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09-30T15:28:36.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75F6E9-4088-39A1-414C-75C45FC52E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CAF3F8AF-E797-AB16-F7D6-31573C7C7669}"/>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8FCA196-E95D-422D-A99D-498004A24BD5}" type="datetimeFigureOut">
              <a:rPr lang="en-IN"/>
              <a:pPr>
                <a:defRPr/>
              </a:pPr>
              <a:t>30-09-2026</a:t>
            </a:fld>
            <a:endParaRPr lang="en-IN"/>
          </a:p>
        </p:txBody>
      </p:sp>
      <p:sp>
        <p:nvSpPr>
          <p:cNvPr id="4" name="Slide Image Placeholder 3">
            <a:extLst>
              <a:ext uri="{FF2B5EF4-FFF2-40B4-BE49-F238E27FC236}">
                <a16:creationId xmlns:a16="http://schemas.microsoft.com/office/drawing/2014/main" id="{B62856C9-02EE-8FF0-4226-710AE2E7074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C84709EB-F89A-B485-5F7C-86860DE790C6}"/>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8042475A-D858-C039-A17A-58AEDA6C697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11CC7E20-FBF2-245A-8BC6-DFE1E483D65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53015572-6D17-4C4C-B512-5FBA1F3DF478}"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B96A164B-86F1-1F23-6AB0-212F78D47F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CE4FCF6-0077-D250-E214-261D449F232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Opening slide for the 3rd edition of the PRISM Generative AI Hackathon. Replace the SAMSUNG PRISM pill with the official PRISM logo image if you have the asset. Confirm the academic year label (2026-27) before circulating.</a:t>
            </a:r>
          </a:p>
        </p:txBody>
      </p:sp>
      <p:sp>
        <p:nvSpPr>
          <p:cNvPr id="5124" name="Slide Number Placeholder 3">
            <a:extLst>
              <a:ext uri="{FF2B5EF4-FFF2-40B4-BE49-F238E27FC236}">
                <a16:creationId xmlns:a16="http://schemas.microsoft.com/office/drawing/2014/main" id="{908F1610-B2C2-73D1-D03C-13F7F98F966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F3790E1-C7B6-43A6-A2DF-4A5C72415676}" type="slidenum">
              <a:rPr lang="en-US" altLang="en-US" smtClean="0"/>
              <a:pPr fontAlgn="base">
                <a:spcBef>
                  <a:spcPct val="0"/>
                </a:spcBef>
                <a:spcAft>
                  <a:spcPct val="0"/>
                </a:spcAft>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066D7C94-F740-655F-EA37-577FA6FA40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C38EF4AF-A707-AB5F-A329-1553085BEB5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17412" name="Slide Number Placeholder 3">
            <a:extLst>
              <a:ext uri="{FF2B5EF4-FFF2-40B4-BE49-F238E27FC236}">
                <a16:creationId xmlns:a16="http://schemas.microsoft.com/office/drawing/2014/main" id="{64CAB71B-643F-31DC-A864-C3821A6251F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238C94C-3A6A-48B4-882F-277FEBEDB94B}" type="slidenum">
              <a:rPr lang="en-US" altLang="en-US" smtClean="0"/>
              <a:pPr fontAlgn="base">
                <a:spcBef>
                  <a:spcPct val="0"/>
                </a:spcBef>
                <a:spcAft>
                  <a:spcPct val="0"/>
                </a:spcAft>
              </a:pPr>
              <a:t>12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1D72C7-320B-3B30-3767-DC9D793025D7}"/>
              </a:ext>
            </a:extLst>
          </p:cNvPr>
          <p:cNvSpPr>
            <a:spLocks noGrp="1"/>
          </p:cNvSpPr>
          <p:nvPr>
            <p:ph type="dt" sz="half" idx="10"/>
          </p:nvPr>
        </p:nvSpPr>
        <p:spPr/>
        <p:txBody>
          <a:bodyPr/>
          <a:lstStyle>
            <a:lvl1pPr>
              <a:defRPr/>
            </a:lvl1pPr>
          </a:lstStyle>
          <a:p>
            <a:pPr>
              <a:defRPr/>
            </a:pPr>
            <a:fld id="{F910B5CB-A68E-4427-A5F0-9D7C8D4C9E8F}" type="datetimeFigureOut">
              <a:rPr lang="en-IN"/>
              <a:pPr>
                <a:defRPr/>
              </a:pPr>
              <a:t>30-09-2026</a:t>
            </a:fld>
            <a:endParaRPr lang="en-IN"/>
          </a:p>
        </p:txBody>
      </p:sp>
      <p:sp>
        <p:nvSpPr>
          <p:cNvPr id="5" name="Footer Placeholder 4">
            <a:extLst>
              <a:ext uri="{FF2B5EF4-FFF2-40B4-BE49-F238E27FC236}">
                <a16:creationId xmlns:a16="http://schemas.microsoft.com/office/drawing/2014/main" id="{B87419AD-15D0-3FC8-5091-4E10CA2EB59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EECF098-A07D-469A-D2A2-10500DA2B473}"/>
              </a:ext>
            </a:extLst>
          </p:cNvPr>
          <p:cNvSpPr>
            <a:spLocks noGrp="1"/>
          </p:cNvSpPr>
          <p:nvPr>
            <p:ph type="sldNum" sz="quarter" idx="12"/>
          </p:nvPr>
        </p:nvSpPr>
        <p:spPr/>
        <p:txBody>
          <a:bodyPr/>
          <a:lstStyle>
            <a:lvl1pPr>
              <a:defRPr/>
            </a:lvl1pPr>
          </a:lstStyle>
          <a:p>
            <a:pPr>
              <a:defRPr/>
            </a:pPr>
            <a:fld id="{BD69CD5D-4FFD-477A-BAB9-A6F86E0D6FD2}" type="slidenum">
              <a:rPr lang="en-IN"/>
              <a:pPr>
                <a:defRPr/>
              </a:pPr>
              <a:t>‹#›</a:t>
            </a:fld>
            <a:endParaRPr lang="en-IN"/>
          </a:p>
        </p:txBody>
      </p:sp>
    </p:spTree>
    <p:extLst>
      <p:ext uri="{BB962C8B-B14F-4D97-AF65-F5344CB8AC3E}">
        <p14:creationId xmlns:p14="http://schemas.microsoft.com/office/powerpoint/2010/main" val="1697812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90C5EB-B41F-761B-72CE-2DC6FF692077}"/>
              </a:ext>
            </a:extLst>
          </p:cNvPr>
          <p:cNvSpPr>
            <a:spLocks noGrp="1"/>
          </p:cNvSpPr>
          <p:nvPr>
            <p:ph type="dt" sz="half" idx="10"/>
          </p:nvPr>
        </p:nvSpPr>
        <p:spPr/>
        <p:txBody>
          <a:bodyPr/>
          <a:lstStyle>
            <a:lvl1pPr>
              <a:defRPr/>
            </a:lvl1pPr>
          </a:lstStyle>
          <a:p>
            <a:pPr>
              <a:defRPr/>
            </a:pPr>
            <a:fld id="{0071B4F2-55CD-4134-A47B-A4971F1EF9A8}" type="datetimeFigureOut">
              <a:rPr lang="en-IN"/>
              <a:pPr>
                <a:defRPr/>
              </a:pPr>
              <a:t>30-09-2026</a:t>
            </a:fld>
            <a:endParaRPr lang="en-IN"/>
          </a:p>
        </p:txBody>
      </p:sp>
      <p:sp>
        <p:nvSpPr>
          <p:cNvPr id="5" name="Footer Placeholder 4">
            <a:extLst>
              <a:ext uri="{FF2B5EF4-FFF2-40B4-BE49-F238E27FC236}">
                <a16:creationId xmlns:a16="http://schemas.microsoft.com/office/drawing/2014/main" id="{7E3F2890-E083-4641-8817-7F5A1F8D692C}"/>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F3406BF3-A9D2-4195-BFCC-6416F6EC50A7}"/>
              </a:ext>
            </a:extLst>
          </p:cNvPr>
          <p:cNvSpPr>
            <a:spLocks noGrp="1"/>
          </p:cNvSpPr>
          <p:nvPr>
            <p:ph type="sldNum" sz="quarter" idx="12"/>
          </p:nvPr>
        </p:nvSpPr>
        <p:spPr/>
        <p:txBody>
          <a:bodyPr/>
          <a:lstStyle>
            <a:lvl1pPr>
              <a:defRPr/>
            </a:lvl1pPr>
          </a:lstStyle>
          <a:p>
            <a:pPr>
              <a:defRPr/>
            </a:pPr>
            <a:fld id="{08312200-9F42-45B6-A092-F997611C9602}" type="slidenum">
              <a:rPr lang="en-IN"/>
              <a:pPr>
                <a:defRPr/>
              </a:pPr>
              <a:t>‹#›</a:t>
            </a:fld>
            <a:endParaRPr lang="en-IN"/>
          </a:p>
        </p:txBody>
      </p:sp>
    </p:spTree>
    <p:extLst>
      <p:ext uri="{BB962C8B-B14F-4D97-AF65-F5344CB8AC3E}">
        <p14:creationId xmlns:p14="http://schemas.microsoft.com/office/powerpoint/2010/main" val="2533099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DE5B88-229D-4B67-652C-2E93DDD46DBF}"/>
              </a:ext>
            </a:extLst>
          </p:cNvPr>
          <p:cNvSpPr>
            <a:spLocks noGrp="1"/>
          </p:cNvSpPr>
          <p:nvPr>
            <p:ph type="dt" sz="half" idx="10"/>
          </p:nvPr>
        </p:nvSpPr>
        <p:spPr/>
        <p:txBody>
          <a:bodyPr/>
          <a:lstStyle>
            <a:lvl1pPr>
              <a:defRPr/>
            </a:lvl1pPr>
          </a:lstStyle>
          <a:p>
            <a:pPr>
              <a:defRPr/>
            </a:pPr>
            <a:fld id="{A8609ED5-AB48-4746-9371-4AB1FDA6335E}" type="datetimeFigureOut">
              <a:rPr lang="en-IN"/>
              <a:pPr>
                <a:defRPr/>
              </a:pPr>
              <a:t>30-09-2026</a:t>
            </a:fld>
            <a:endParaRPr lang="en-IN"/>
          </a:p>
        </p:txBody>
      </p:sp>
      <p:sp>
        <p:nvSpPr>
          <p:cNvPr id="5" name="Footer Placeholder 4">
            <a:extLst>
              <a:ext uri="{FF2B5EF4-FFF2-40B4-BE49-F238E27FC236}">
                <a16:creationId xmlns:a16="http://schemas.microsoft.com/office/drawing/2014/main" id="{72272F4B-AE30-413E-208D-2860C0BD166D}"/>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4ADD556-08CC-E063-99E0-95370063EA52}"/>
              </a:ext>
            </a:extLst>
          </p:cNvPr>
          <p:cNvSpPr>
            <a:spLocks noGrp="1"/>
          </p:cNvSpPr>
          <p:nvPr>
            <p:ph type="sldNum" sz="quarter" idx="12"/>
          </p:nvPr>
        </p:nvSpPr>
        <p:spPr/>
        <p:txBody>
          <a:bodyPr/>
          <a:lstStyle>
            <a:lvl1pPr>
              <a:defRPr/>
            </a:lvl1pPr>
          </a:lstStyle>
          <a:p>
            <a:pPr>
              <a:defRPr/>
            </a:pPr>
            <a:fld id="{F25959A8-EA2D-435E-B679-071A94B9F24A}" type="slidenum">
              <a:rPr lang="en-IN"/>
              <a:pPr>
                <a:defRPr/>
              </a:pPr>
              <a:t>‹#›</a:t>
            </a:fld>
            <a:endParaRPr lang="en-IN"/>
          </a:p>
        </p:txBody>
      </p:sp>
    </p:spTree>
    <p:extLst>
      <p:ext uri="{BB962C8B-B14F-4D97-AF65-F5344CB8AC3E}">
        <p14:creationId xmlns:p14="http://schemas.microsoft.com/office/powerpoint/2010/main" val="277842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0F7B7BB5-963D-B608-96ED-7586D321C8F5}"/>
              </a:ext>
            </a:extLst>
          </p:cNvPr>
          <p:cNvSpPr>
            <a:spLocks noGrp="1"/>
          </p:cNvSpPr>
          <p:nvPr>
            <p:ph type="dt" sz="half" idx="10"/>
          </p:nvPr>
        </p:nvSpPr>
        <p:spPr/>
        <p:txBody>
          <a:bodyPr/>
          <a:lstStyle>
            <a:lvl1pPr>
              <a:defRPr/>
            </a:lvl1pPr>
          </a:lstStyle>
          <a:p>
            <a:pPr>
              <a:defRPr/>
            </a:pPr>
            <a:fld id="{0750F646-523A-4097-A37A-F005B53291F1}" type="datetimeFigureOut">
              <a:rPr lang="en-IN"/>
              <a:pPr>
                <a:defRPr/>
              </a:pPr>
              <a:t>30-09-2026</a:t>
            </a:fld>
            <a:endParaRPr lang="en-IN"/>
          </a:p>
        </p:txBody>
      </p:sp>
      <p:sp>
        <p:nvSpPr>
          <p:cNvPr id="6" name="Footer Placeholder 4">
            <a:extLst>
              <a:ext uri="{FF2B5EF4-FFF2-40B4-BE49-F238E27FC236}">
                <a16:creationId xmlns:a16="http://schemas.microsoft.com/office/drawing/2014/main" id="{EF3F30DC-02C5-33AC-5F5B-3C2DCE68F103}"/>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7AFE30A-A98A-2863-0B02-DE7BE318F9CF}"/>
              </a:ext>
            </a:extLst>
          </p:cNvPr>
          <p:cNvSpPr>
            <a:spLocks noGrp="1"/>
          </p:cNvSpPr>
          <p:nvPr>
            <p:ph type="sldNum" sz="quarter" idx="12"/>
          </p:nvPr>
        </p:nvSpPr>
        <p:spPr/>
        <p:txBody>
          <a:bodyPr/>
          <a:lstStyle>
            <a:lvl1pPr>
              <a:defRPr/>
            </a:lvl1pPr>
          </a:lstStyle>
          <a:p>
            <a:pPr>
              <a:defRPr/>
            </a:pPr>
            <a:fld id="{F838A45F-D5B8-4B6C-BB86-D7501033FA6A}" type="slidenum">
              <a:rPr lang="en-IN"/>
              <a:pPr>
                <a:defRPr/>
              </a:pPr>
              <a:t>‹#›</a:t>
            </a:fld>
            <a:endParaRPr lang="en-IN"/>
          </a:p>
        </p:txBody>
      </p:sp>
    </p:spTree>
    <p:extLst>
      <p:ext uri="{BB962C8B-B14F-4D97-AF65-F5344CB8AC3E}">
        <p14:creationId xmlns:p14="http://schemas.microsoft.com/office/powerpoint/2010/main" val="292136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09F9DC6A-C431-16BB-E4F4-A5F9ED851952}"/>
              </a:ext>
            </a:extLst>
          </p:cNvPr>
          <p:cNvSpPr>
            <a:spLocks noGrp="1"/>
          </p:cNvSpPr>
          <p:nvPr>
            <p:ph type="dt" sz="half" idx="10"/>
          </p:nvPr>
        </p:nvSpPr>
        <p:spPr/>
        <p:txBody>
          <a:bodyPr/>
          <a:lstStyle>
            <a:lvl1pPr>
              <a:defRPr/>
            </a:lvl1pPr>
          </a:lstStyle>
          <a:p>
            <a:pPr>
              <a:defRPr/>
            </a:pPr>
            <a:fld id="{680F6B55-A6F5-4B9A-8159-557F034821C4}" type="datetimeFigureOut">
              <a:rPr lang="en-IN"/>
              <a:pPr>
                <a:defRPr/>
              </a:pPr>
              <a:t>30-09-2026</a:t>
            </a:fld>
            <a:endParaRPr lang="en-IN"/>
          </a:p>
        </p:txBody>
      </p:sp>
      <p:sp>
        <p:nvSpPr>
          <p:cNvPr id="8" name="Footer Placeholder 4">
            <a:extLst>
              <a:ext uri="{FF2B5EF4-FFF2-40B4-BE49-F238E27FC236}">
                <a16:creationId xmlns:a16="http://schemas.microsoft.com/office/drawing/2014/main" id="{EE2EBFB6-8E34-7563-5C21-18F39ECE9A8B}"/>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B3D05D63-4DFF-0BCE-A406-DAD535EBF95D}"/>
              </a:ext>
            </a:extLst>
          </p:cNvPr>
          <p:cNvSpPr>
            <a:spLocks noGrp="1"/>
          </p:cNvSpPr>
          <p:nvPr>
            <p:ph type="sldNum" sz="quarter" idx="12"/>
          </p:nvPr>
        </p:nvSpPr>
        <p:spPr/>
        <p:txBody>
          <a:bodyPr/>
          <a:lstStyle>
            <a:lvl1pPr>
              <a:defRPr/>
            </a:lvl1pPr>
          </a:lstStyle>
          <a:p>
            <a:pPr>
              <a:defRPr/>
            </a:pPr>
            <a:fld id="{5B3EC773-7566-4BC6-9FBB-D0E9E4D94685}" type="slidenum">
              <a:rPr lang="en-IN"/>
              <a:pPr>
                <a:defRPr/>
              </a:pPr>
              <a:t>‹#›</a:t>
            </a:fld>
            <a:endParaRPr lang="en-IN"/>
          </a:p>
        </p:txBody>
      </p:sp>
    </p:spTree>
    <p:extLst>
      <p:ext uri="{BB962C8B-B14F-4D97-AF65-F5344CB8AC3E}">
        <p14:creationId xmlns:p14="http://schemas.microsoft.com/office/powerpoint/2010/main" val="2484984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BA47845E-8A28-9C25-DFA8-4A282C4088B0}"/>
              </a:ext>
            </a:extLst>
          </p:cNvPr>
          <p:cNvSpPr>
            <a:spLocks noGrp="1"/>
          </p:cNvSpPr>
          <p:nvPr>
            <p:ph type="dt" sz="half" idx="10"/>
          </p:nvPr>
        </p:nvSpPr>
        <p:spPr/>
        <p:txBody>
          <a:bodyPr/>
          <a:lstStyle>
            <a:lvl1pPr>
              <a:defRPr/>
            </a:lvl1pPr>
          </a:lstStyle>
          <a:p>
            <a:pPr>
              <a:defRPr/>
            </a:pPr>
            <a:fld id="{702B2344-C01D-416A-BEBC-2095AF3B3115}" type="datetimeFigureOut">
              <a:rPr lang="en-IN"/>
              <a:pPr>
                <a:defRPr/>
              </a:pPr>
              <a:t>30-09-2026</a:t>
            </a:fld>
            <a:endParaRPr lang="en-IN"/>
          </a:p>
        </p:txBody>
      </p:sp>
      <p:sp>
        <p:nvSpPr>
          <p:cNvPr id="4" name="Footer Placeholder 4">
            <a:extLst>
              <a:ext uri="{FF2B5EF4-FFF2-40B4-BE49-F238E27FC236}">
                <a16:creationId xmlns:a16="http://schemas.microsoft.com/office/drawing/2014/main" id="{9C413568-2B58-7C21-F84E-943727C00DF9}"/>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5632FF75-760D-FB99-79BC-2454636D0875}"/>
              </a:ext>
            </a:extLst>
          </p:cNvPr>
          <p:cNvSpPr>
            <a:spLocks noGrp="1"/>
          </p:cNvSpPr>
          <p:nvPr>
            <p:ph type="sldNum" sz="quarter" idx="12"/>
          </p:nvPr>
        </p:nvSpPr>
        <p:spPr/>
        <p:txBody>
          <a:bodyPr/>
          <a:lstStyle>
            <a:lvl1pPr>
              <a:defRPr/>
            </a:lvl1pPr>
          </a:lstStyle>
          <a:p>
            <a:pPr>
              <a:defRPr/>
            </a:pPr>
            <a:fld id="{F4517039-6DC4-4D9A-842E-7A41BBC9B3B3}" type="slidenum">
              <a:rPr lang="en-IN"/>
              <a:pPr>
                <a:defRPr/>
              </a:pPr>
              <a:t>‹#›</a:t>
            </a:fld>
            <a:endParaRPr lang="en-IN"/>
          </a:p>
        </p:txBody>
      </p:sp>
    </p:spTree>
    <p:extLst>
      <p:ext uri="{BB962C8B-B14F-4D97-AF65-F5344CB8AC3E}">
        <p14:creationId xmlns:p14="http://schemas.microsoft.com/office/powerpoint/2010/main" val="2837421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B9628FA-3DFE-0E2D-5A40-0FF40991E22A}"/>
              </a:ext>
            </a:extLst>
          </p:cNvPr>
          <p:cNvSpPr>
            <a:spLocks noGrp="1"/>
          </p:cNvSpPr>
          <p:nvPr>
            <p:ph type="dt" sz="half" idx="10"/>
          </p:nvPr>
        </p:nvSpPr>
        <p:spPr/>
        <p:txBody>
          <a:bodyPr/>
          <a:lstStyle>
            <a:lvl1pPr>
              <a:defRPr/>
            </a:lvl1pPr>
          </a:lstStyle>
          <a:p>
            <a:pPr>
              <a:defRPr/>
            </a:pPr>
            <a:fld id="{CFF8D381-BE3F-4FFD-B92A-FE3104A1865A}" type="datetimeFigureOut">
              <a:rPr lang="en-IN"/>
              <a:pPr>
                <a:defRPr/>
              </a:pPr>
              <a:t>30-09-2026</a:t>
            </a:fld>
            <a:endParaRPr lang="en-IN"/>
          </a:p>
        </p:txBody>
      </p:sp>
      <p:sp>
        <p:nvSpPr>
          <p:cNvPr id="3" name="Footer Placeholder 4">
            <a:extLst>
              <a:ext uri="{FF2B5EF4-FFF2-40B4-BE49-F238E27FC236}">
                <a16:creationId xmlns:a16="http://schemas.microsoft.com/office/drawing/2014/main" id="{FEA893BC-187A-051B-E79E-E3C9AE9845F3}"/>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66C5934C-4770-29C6-6C02-3C32C17D9F57}"/>
              </a:ext>
            </a:extLst>
          </p:cNvPr>
          <p:cNvSpPr>
            <a:spLocks noGrp="1"/>
          </p:cNvSpPr>
          <p:nvPr>
            <p:ph type="sldNum" sz="quarter" idx="12"/>
          </p:nvPr>
        </p:nvSpPr>
        <p:spPr/>
        <p:txBody>
          <a:bodyPr/>
          <a:lstStyle>
            <a:lvl1pPr>
              <a:defRPr/>
            </a:lvl1pPr>
          </a:lstStyle>
          <a:p>
            <a:pPr>
              <a:defRPr/>
            </a:pPr>
            <a:fld id="{0ECA69DB-9A4A-4786-A2FD-876AC0C13F1C}" type="slidenum">
              <a:rPr lang="en-IN"/>
              <a:pPr>
                <a:defRPr/>
              </a:pPr>
              <a:t>‹#›</a:t>
            </a:fld>
            <a:endParaRPr lang="en-IN"/>
          </a:p>
        </p:txBody>
      </p:sp>
    </p:spTree>
    <p:extLst>
      <p:ext uri="{BB962C8B-B14F-4D97-AF65-F5344CB8AC3E}">
        <p14:creationId xmlns:p14="http://schemas.microsoft.com/office/powerpoint/2010/main" val="2487426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75278624-0137-453E-BC91-A37AE8683023}"/>
              </a:ext>
            </a:extLst>
          </p:cNvPr>
          <p:cNvSpPr>
            <a:spLocks noGrp="1"/>
          </p:cNvSpPr>
          <p:nvPr>
            <p:ph type="dt" sz="half" idx="10"/>
          </p:nvPr>
        </p:nvSpPr>
        <p:spPr/>
        <p:txBody>
          <a:bodyPr/>
          <a:lstStyle>
            <a:lvl1pPr>
              <a:defRPr/>
            </a:lvl1pPr>
          </a:lstStyle>
          <a:p>
            <a:pPr>
              <a:defRPr/>
            </a:pPr>
            <a:fld id="{012078E2-8E74-4487-8F91-3C44AC238F2D}" type="datetimeFigureOut">
              <a:rPr lang="en-IN"/>
              <a:pPr>
                <a:defRPr/>
              </a:pPr>
              <a:t>30-09-2026</a:t>
            </a:fld>
            <a:endParaRPr lang="en-IN"/>
          </a:p>
        </p:txBody>
      </p:sp>
      <p:sp>
        <p:nvSpPr>
          <p:cNvPr id="6" name="Footer Placeholder 4">
            <a:extLst>
              <a:ext uri="{FF2B5EF4-FFF2-40B4-BE49-F238E27FC236}">
                <a16:creationId xmlns:a16="http://schemas.microsoft.com/office/drawing/2014/main" id="{C8EE0E5A-74AF-CD23-1D6E-F0BF1CD6722F}"/>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96C00518-E367-2E00-CC91-BD44998C25D7}"/>
              </a:ext>
            </a:extLst>
          </p:cNvPr>
          <p:cNvSpPr>
            <a:spLocks noGrp="1"/>
          </p:cNvSpPr>
          <p:nvPr>
            <p:ph type="sldNum" sz="quarter" idx="12"/>
          </p:nvPr>
        </p:nvSpPr>
        <p:spPr/>
        <p:txBody>
          <a:bodyPr/>
          <a:lstStyle>
            <a:lvl1pPr>
              <a:defRPr/>
            </a:lvl1pPr>
          </a:lstStyle>
          <a:p>
            <a:pPr>
              <a:defRPr/>
            </a:pPr>
            <a:fld id="{9CDE530F-C5F2-42F7-9D44-F4C0C3330ADE}" type="slidenum">
              <a:rPr lang="en-IN"/>
              <a:pPr>
                <a:defRPr/>
              </a:pPr>
              <a:t>‹#›</a:t>
            </a:fld>
            <a:endParaRPr lang="en-IN"/>
          </a:p>
        </p:txBody>
      </p:sp>
    </p:spTree>
    <p:extLst>
      <p:ext uri="{BB962C8B-B14F-4D97-AF65-F5344CB8AC3E}">
        <p14:creationId xmlns:p14="http://schemas.microsoft.com/office/powerpoint/2010/main" val="1494302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FA71C6EE-88CB-907E-B4C5-FFFB7FAC386C}"/>
              </a:ext>
            </a:extLst>
          </p:cNvPr>
          <p:cNvSpPr>
            <a:spLocks noGrp="1"/>
          </p:cNvSpPr>
          <p:nvPr>
            <p:ph type="dt" sz="half" idx="10"/>
          </p:nvPr>
        </p:nvSpPr>
        <p:spPr/>
        <p:txBody>
          <a:bodyPr/>
          <a:lstStyle>
            <a:lvl1pPr>
              <a:defRPr/>
            </a:lvl1pPr>
          </a:lstStyle>
          <a:p>
            <a:pPr>
              <a:defRPr/>
            </a:pPr>
            <a:fld id="{D694E56B-CB82-4EC8-B66D-22698345076B}" type="datetimeFigureOut">
              <a:rPr lang="en-IN"/>
              <a:pPr>
                <a:defRPr/>
              </a:pPr>
              <a:t>30-09-2026</a:t>
            </a:fld>
            <a:endParaRPr lang="en-IN"/>
          </a:p>
        </p:txBody>
      </p:sp>
      <p:sp>
        <p:nvSpPr>
          <p:cNvPr id="6" name="Footer Placeholder 4">
            <a:extLst>
              <a:ext uri="{FF2B5EF4-FFF2-40B4-BE49-F238E27FC236}">
                <a16:creationId xmlns:a16="http://schemas.microsoft.com/office/drawing/2014/main" id="{66B2DC1A-D66A-70CA-E28C-36C8E31ED9A1}"/>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51A923CF-0C7E-95BB-FC79-B3060F15546E}"/>
              </a:ext>
            </a:extLst>
          </p:cNvPr>
          <p:cNvSpPr>
            <a:spLocks noGrp="1"/>
          </p:cNvSpPr>
          <p:nvPr>
            <p:ph type="sldNum" sz="quarter" idx="12"/>
          </p:nvPr>
        </p:nvSpPr>
        <p:spPr/>
        <p:txBody>
          <a:bodyPr/>
          <a:lstStyle>
            <a:lvl1pPr>
              <a:defRPr/>
            </a:lvl1pPr>
          </a:lstStyle>
          <a:p>
            <a:pPr>
              <a:defRPr/>
            </a:pPr>
            <a:fld id="{A1225FE2-4333-40D7-96F8-D9533E48F8A0}" type="slidenum">
              <a:rPr lang="en-IN"/>
              <a:pPr>
                <a:defRPr/>
              </a:pPr>
              <a:t>‹#›</a:t>
            </a:fld>
            <a:endParaRPr lang="en-IN"/>
          </a:p>
        </p:txBody>
      </p:sp>
    </p:spTree>
    <p:extLst>
      <p:ext uri="{BB962C8B-B14F-4D97-AF65-F5344CB8AC3E}">
        <p14:creationId xmlns:p14="http://schemas.microsoft.com/office/powerpoint/2010/main" val="56772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BB2887-8EF0-BD53-019A-479481066459}"/>
              </a:ext>
            </a:extLst>
          </p:cNvPr>
          <p:cNvSpPr>
            <a:spLocks noGrp="1"/>
          </p:cNvSpPr>
          <p:nvPr>
            <p:ph type="dt" sz="half" idx="10"/>
          </p:nvPr>
        </p:nvSpPr>
        <p:spPr/>
        <p:txBody>
          <a:bodyPr/>
          <a:lstStyle>
            <a:lvl1pPr>
              <a:defRPr/>
            </a:lvl1pPr>
          </a:lstStyle>
          <a:p>
            <a:pPr>
              <a:defRPr/>
            </a:pPr>
            <a:fld id="{BB8E80C0-DBE6-4DCD-9C1A-D3939946997F}" type="datetimeFigureOut">
              <a:rPr lang="en-IN"/>
              <a:pPr>
                <a:defRPr/>
              </a:pPr>
              <a:t>30-09-2026</a:t>
            </a:fld>
            <a:endParaRPr lang="en-IN"/>
          </a:p>
        </p:txBody>
      </p:sp>
      <p:sp>
        <p:nvSpPr>
          <p:cNvPr id="5" name="Footer Placeholder 4">
            <a:extLst>
              <a:ext uri="{FF2B5EF4-FFF2-40B4-BE49-F238E27FC236}">
                <a16:creationId xmlns:a16="http://schemas.microsoft.com/office/drawing/2014/main" id="{562A0A38-7B60-FE4E-4334-15593420A1F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EF9019B-3D96-028F-2D95-E39F69782D08}"/>
              </a:ext>
            </a:extLst>
          </p:cNvPr>
          <p:cNvSpPr>
            <a:spLocks noGrp="1"/>
          </p:cNvSpPr>
          <p:nvPr>
            <p:ph type="sldNum" sz="quarter" idx="12"/>
          </p:nvPr>
        </p:nvSpPr>
        <p:spPr/>
        <p:txBody>
          <a:bodyPr/>
          <a:lstStyle>
            <a:lvl1pPr>
              <a:defRPr/>
            </a:lvl1pPr>
          </a:lstStyle>
          <a:p>
            <a:pPr>
              <a:defRPr/>
            </a:pPr>
            <a:fld id="{BAF517C1-AA3F-4980-BC84-FEF0F9E8AFE9}" type="slidenum">
              <a:rPr lang="en-IN"/>
              <a:pPr>
                <a:defRPr/>
              </a:pPr>
              <a:t>‹#›</a:t>
            </a:fld>
            <a:endParaRPr lang="en-IN"/>
          </a:p>
        </p:txBody>
      </p:sp>
    </p:spTree>
    <p:extLst>
      <p:ext uri="{BB962C8B-B14F-4D97-AF65-F5344CB8AC3E}">
        <p14:creationId xmlns:p14="http://schemas.microsoft.com/office/powerpoint/2010/main" val="256653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BB6E48-6E7F-7894-F004-4C659761232F}"/>
              </a:ext>
            </a:extLst>
          </p:cNvPr>
          <p:cNvSpPr>
            <a:spLocks noGrp="1"/>
          </p:cNvSpPr>
          <p:nvPr>
            <p:ph type="dt" sz="half" idx="10"/>
          </p:nvPr>
        </p:nvSpPr>
        <p:spPr/>
        <p:txBody>
          <a:bodyPr/>
          <a:lstStyle>
            <a:lvl1pPr>
              <a:defRPr/>
            </a:lvl1pPr>
          </a:lstStyle>
          <a:p>
            <a:pPr>
              <a:defRPr/>
            </a:pPr>
            <a:fld id="{6E1EF3CD-57D5-4F8D-8304-B28F202976F8}" type="datetimeFigureOut">
              <a:rPr lang="en-IN"/>
              <a:pPr>
                <a:defRPr/>
              </a:pPr>
              <a:t>30-09-2026</a:t>
            </a:fld>
            <a:endParaRPr lang="en-IN"/>
          </a:p>
        </p:txBody>
      </p:sp>
      <p:sp>
        <p:nvSpPr>
          <p:cNvPr id="5" name="Footer Placeholder 4">
            <a:extLst>
              <a:ext uri="{FF2B5EF4-FFF2-40B4-BE49-F238E27FC236}">
                <a16:creationId xmlns:a16="http://schemas.microsoft.com/office/drawing/2014/main" id="{76B7A1E0-1399-AF4E-D97E-7F7036BE34A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B5B2769-CEBE-B901-1346-287CFEC5DA80}"/>
              </a:ext>
            </a:extLst>
          </p:cNvPr>
          <p:cNvSpPr>
            <a:spLocks noGrp="1"/>
          </p:cNvSpPr>
          <p:nvPr>
            <p:ph type="sldNum" sz="quarter" idx="12"/>
          </p:nvPr>
        </p:nvSpPr>
        <p:spPr/>
        <p:txBody>
          <a:bodyPr/>
          <a:lstStyle>
            <a:lvl1pPr>
              <a:defRPr/>
            </a:lvl1pPr>
          </a:lstStyle>
          <a:p>
            <a:pPr>
              <a:defRPr/>
            </a:pPr>
            <a:fld id="{EB532574-E3C6-45CE-BD35-8669DB81DCD1}" type="slidenum">
              <a:rPr lang="en-IN"/>
              <a:pPr>
                <a:defRPr/>
              </a:pPr>
              <a:t>‹#›</a:t>
            </a:fld>
            <a:endParaRPr lang="en-IN"/>
          </a:p>
        </p:txBody>
      </p:sp>
    </p:spTree>
    <p:extLst>
      <p:ext uri="{BB962C8B-B14F-4D97-AF65-F5344CB8AC3E}">
        <p14:creationId xmlns:p14="http://schemas.microsoft.com/office/powerpoint/2010/main" val="4075524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391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962C30F-AC48-1327-4C92-1FEBF16B33D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7DD8B4B9-E9A7-F0E1-8CA2-99D532A1360C}"/>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707D947A-E3A9-EB12-27FD-50F3583385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78E47AA-9411-43B5-BEB0-4F3DD2151F96}" type="datetimeFigureOut">
              <a:rPr lang="en-IN"/>
              <a:pPr>
                <a:defRPr/>
              </a:pPr>
              <a:t>30-09-2026</a:t>
            </a:fld>
            <a:endParaRPr lang="en-IN"/>
          </a:p>
        </p:txBody>
      </p:sp>
      <p:sp>
        <p:nvSpPr>
          <p:cNvPr id="5" name="Footer Placeholder 4">
            <a:extLst>
              <a:ext uri="{FF2B5EF4-FFF2-40B4-BE49-F238E27FC236}">
                <a16:creationId xmlns:a16="http://schemas.microsoft.com/office/drawing/2014/main" id="{13151C95-E311-A948-9001-2A259517D8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4CEA7E5F-038D-754B-14D0-8E5E7A901E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FE94A43-EAFB-44A8-BB35-7D6BF385FEAB}"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ush5895/Pris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rive.google.com/file/d/1uxeaEH0MEguTF5We5nPLj3law07Ztcye/view?usp=drivesd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hape 0">
            <a:extLst>
              <a:ext uri="{FF2B5EF4-FFF2-40B4-BE49-F238E27FC236}">
                <a16:creationId xmlns:a16="http://schemas.microsoft.com/office/drawing/2014/main" id="{D7F73B64-C238-D310-583E-CB91296A2F04}"/>
              </a:ext>
            </a:extLst>
          </p:cNvPr>
          <p:cNvSpPr>
            <a:spLocks noChangeArrowheads="1"/>
          </p:cNvSpPr>
          <p:nvPr/>
        </p:nvSpPr>
        <p:spPr bwMode="auto">
          <a:xfrm>
            <a:off x="777875" y="676275"/>
            <a:ext cx="2422525" cy="347663"/>
          </a:xfrm>
          <a:prstGeom prst="roundRect">
            <a:avLst>
              <a:gd name="adj" fmla="val 50000"/>
            </a:avLst>
          </a:prstGeom>
          <a:solidFill>
            <a:srgbClr val="FFFFFF"/>
          </a:solidFill>
          <a:ln w="12700">
            <a:solidFill>
              <a:srgbClr val="D9D3F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3" name="Text 1">
            <a:extLst>
              <a:ext uri="{FF2B5EF4-FFF2-40B4-BE49-F238E27FC236}">
                <a16:creationId xmlns:a16="http://schemas.microsoft.com/office/drawing/2014/main" id="{3448FBE3-EC75-101A-2B44-EC329746C9AA}"/>
              </a:ext>
            </a:extLst>
          </p:cNvPr>
          <p:cNvSpPr txBox="1"/>
          <p:nvPr/>
        </p:nvSpPr>
        <p:spPr>
          <a:xfrm>
            <a:off x="777875" y="676275"/>
            <a:ext cx="2422525" cy="347663"/>
          </a:xfrm>
          <a:prstGeom prst="rect">
            <a:avLst/>
          </a:prstGeom>
          <a:noFill/>
          <a:ln/>
        </p:spPr>
        <p:txBody>
          <a:bodyPr lIns="0" tIns="0" rIns="0" bIns="0" anchor="ctr"/>
          <a:lstStyle/>
          <a:p>
            <a:pPr algn="ctr" eaLnBrk="1" fontAlgn="auto" hangingPunct="1">
              <a:spcBef>
                <a:spcPts val="0"/>
              </a:spcBef>
              <a:spcAft>
                <a:spcPts val="0"/>
              </a:spcAft>
              <a:defRPr/>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latin typeface="+mn-lt"/>
            </a:endParaRPr>
          </a:p>
        </p:txBody>
      </p:sp>
      <p:sp>
        <p:nvSpPr>
          <p:cNvPr id="4100" name="Text 2">
            <a:extLst>
              <a:ext uri="{FF2B5EF4-FFF2-40B4-BE49-F238E27FC236}">
                <a16:creationId xmlns:a16="http://schemas.microsoft.com/office/drawing/2014/main" id="{AB20CD30-E90F-EF8F-9655-1B2C2C0E85A5}"/>
              </a:ext>
            </a:extLst>
          </p:cNvPr>
          <p:cNvSpPr txBox="1">
            <a:spLocks noChangeArrowheads="1"/>
          </p:cNvSpPr>
          <p:nvPr/>
        </p:nvSpPr>
        <p:spPr bwMode="auto">
          <a:xfrm>
            <a:off x="777875" y="1206500"/>
            <a:ext cx="6126163"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5000" b="1">
                <a:solidFill>
                  <a:srgbClr val="14142B"/>
                </a:solidFill>
                <a:latin typeface="Arial" panose="020B0604020202020204" pitchFamily="34" charset="0"/>
                <a:cs typeface="Arial" panose="020B0604020202020204" pitchFamily="34" charset="0"/>
              </a:rPr>
              <a:t>Generative AI</a:t>
            </a:r>
            <a:endParaRPr lang="en-US" altLang="en-US" sz="5000"/>
          </a:p>
        </p:txBody>
      </p:sp>
      <p:sp>
        <p:nvSpPr>
          <p:cNvPr id="4101" name="Text 3">
            <a:extLst>
              <a:ext uri="{FF2B5EF4-FFF2-40B4-BE49-F238E27FC236}">
                <a16:creationId xmlns:a16="http://schemas.microsoft.com/office/drawing/2014/main" id="{6D37EE1F-10F9-ED13-A04F-7FAD27B4029F}"/>
              </a:ext>
            </a:extLst>
          </p:cNvPr>
          <p:cNvSpPr txBox="1">
            <a:spLocks noChangeArrowheads="1"/>
          </p:cNvSpPr>
          <p:nvPr/>
        </p:nvSpPr>
        <p:spPr bwMode="auto">
          <a:xfrm>
            <a:off x="777875" y="1901825"/>
            <a:ext cx="612616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5000" b="1">
                <a:solidFill>
                  <a:srgbClr val="6D28D9"/>
                </a:solidFill>
                <a:latin typeface="Arial" panose="020B0604020202020204" pitchFamily="34" charset="0"/>
                <a:cs typeface="Arial" panose="020B0604020202020204" pitchFamily="34" charset="0"/>
              </a:rPr>
              <a:t>Hackathon</a:t>
            </a:r>
            <a:endParaRPr lang="en-US" altLang="en-US" sz="5000"/>
          </a:p>
        </p:txBody>
      </p:sp>
      <p:sp>
        <p:nvSpPr>
          <p:cNvPr id="4102" name="Text 4">
            <a:extLst>
              <a:ext uri="{FF2B5EF4-FFF2-40B4-BE49-F238E27FC236}">
                <a16:creationId xmlns:a16="http://schemas.microsoft.com/office/drawing/2014/main" id="{FE52CA90-F0CC-0716-C2D5-C8001F3733F8}"/>
              </a:ext>
            </a:extLst>
          </p:cNvPr>
          <p:cNvSpPr txBox="1">
            <a:spLocks noChangeArrowheads="1"/>
          </p:cNvSpPr>
          <p:nvPr/>
        </p:nvSpPr>
        <p:spPr bwMode="auto">
          <a:xfrm>
            <a:off x="777875" y="272415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500" b="1">
                <a:solidFill>
                  <a:srgbClr val="14142B"/>
                </a:solidFill>
                <a:latin typeface="Arial" panose="020B0604020202020204" pitchFamily="34" charset="0"/>
                <a:cs typeface="Arial" panose="020B0604020202020204" pitchFamily="34" charset="0"/>
              </a:rPr>
              <a:t>3rd Edition</a:t>
            </a:r>
            <a:r>
              <a:rPr lang="en-US" altLang="en-US" sz="2000">
                <a:solidFill>
                  <a:srgbClr val="63637E"/>
                </a:solidFill>
                <a:cs typeface="Calibri" panose="020F0502020204030204" pitchFamily="34" charset="0"/>
              </a:rPr>
              <a:t>   2026 – 27</a:t>
            </a:r>
            <a:endParaRPr lang="en-US" altLang="en-US" sz="2500"/>
          </a:p>
        </p:txBody>
      </p:sp>
      <p:sp>
        <p:nvSpPr>
          <p:cNvPr id="4103" name="Text 5">
            <a:extLst>
              <a:ext uri="{FF2B5EF4-FFF2-40B4-BE49-F238E27FC236}">
                <a16:creationId xmlns:a16="http://schemas.microsoft.com/office/drawing/2014/main" id="{6B593CEF-EFA5-AE83-F23D-BC76065E1E9C}"/>
              </a:ext>
            </a:extLst>
          </p:cNvPr>
          <p:cNvSpPr txBox="1">
            <a:spLocks noChangeArrowheads="1"/>
          </p:cNvSpPr>
          <p:nvPr/>
        </p:nvSpPr>
        <p:spPr bwMode="auto">
          <a:xfrm>
            <a:off x="777875" y="3309938"/>
            <a:ext cx="585152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77800" indent="-1778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Theme ID - 02 · Smart Guided Troubleshooting Engine</a:t>
            </a:r>
            <a:endParaRPr lang="en-US" altLang="en-US" sz="1800">
              <a:solidFill>
                <a:srgbClr val="000000"/>
              </a:solidFill>
              <a:cs typeface="Calibri" panose="020F0502020204030204" pitchFamily="34" charset="0"/>
            </a:endParaRPr>
          </a:p>
          <a:p>
            <a:pPr>
              <a:lnSpc>
                <a:spcPct val="100000"/>
              </a:lnSpc>
              <a:spcBef>
                <a:spcPct val="0"/>
              </a:spcBef>
              <a:spcAft>
                <a:spcPts val="500"/>
              </a:spcAft>
              <a:buFontTx/>
              <a:buChar char="•"/>
            </a:pPr>
            <a:r>
              <a:rPr lang="en-US" altLang="en-US" sz="1600">
                <a:solidFill>
                  <a:srgbClr val="63637E"/>
                </a:solidFill>
                <a:cs typeface="Calibri" panose="020F0502020204030204" pitchFamily="34" charset="0"/>
              </a:rPr>
              <a:t>Team Name - Terra</a:t>
            </a:r>
            <a:endParaRPr lang="en-US" altLang="en-US" sz="1800"/>
          </a:p>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College Name – SRM Institute Of Science and Technology</a:t>
            </a:r>
          </a:p>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Member Name &amp; Email 1-  Ayush Garg &amp; aush5895@gmail.com</a:t>
            </a:r>
          </a:p>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Member Name &amp; Email 2- Yash Shekhar Rai &amp; ys9432@srmist.edu.in</a:t>
            </a:r>
          </a:p>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Member Name &amp; Email 3- Yuvraj &amp; yr9065@srmist.edu.in</a:t>
            </a:r>
          </a:p>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Member Name &amp; Email 4- Daksh Kumar &amp; dk9052@srmist.edu.in</a:t>
            </a:r>
          </a:p>
          <a:p>
            <a:pPr eaLnBrk="1" hangingPunct="1">
              <a:lnSpc>
                <a:spcPct val="100000"/>
              </a:lnSpc>
              <a:spcBef>
                <a:spcPct val="0"/>
              </a:spcBef>
              <a:spcAft>
                <a:spcPts val="500"/>
              </a:spcAft>
              <a:buFontTx/>
              <a:buChar char="•"/>
            </a:pPr>
            <a:r>
              <a:rPr lang="en-US" altLang="en-US" sz="1600">
                <a:solidFill>
                  <a:srgbClr val="63637E"/>
                </a:solidFill>
                <a:cs typeface="Calibri" panose="020F0502020204030204" pitchFamily="34" charset="0"/>
              </a:rPr>
              <a:t>Submission Github link - </a:t>
            </a:r>
            <a:r>
              <a:rPr lang="en-US" altLang="en-US" sz="1600">
                <a:solidFill>
                  <a:srgbClr val="63637E"/>
                </a:solidFill>
                <a:cs typeface="Calibri" panose="020F0502020204030204" pitchFamily="34" charset="0"/>
                <a:hlinkClick r:id="rId3"/>
              </a:rPr>
              <a:t>github.com/aush5895/Prism</a:t>
            </a:r>
          </a:p>
          <a:p>
            <a:pPr eaLnBrk="1" hangingPunct="1">
              <a:lnSpc>
                <a:spcPct val="100000"/>
              </a:lnSpc>
              <a:spcBef>
                <a:spcPct val="0"/>
              </a:spcBef>
              <a:spcAft>
                <a:spcPts val="500"/>
              </a:spcAft>
              <a:buFontTx/>
              <a:buChar char="•"/>
            </a:pPr>
            <a:endParaRPr lang="en-US" altLang="en-US" sz="1600">
              <a:solidFill>
                <a:srgbClr val="63637E"/>
              </a:solidFill>
              <a:cs typeface="Calibri" panose="020F0502020204030204" pitchFamily="34" charset="0"/>
            </a:endParaRPr>
          </a:p>
        </p:txBody>
      </p:sp>
      <p:pic>
        <p:nvPicPr>
          <p:cNvPr id="4104" name="Image 0" descr="hero_network.png">
            <a:extLst>
              <a:ext uri="{FF2B5EF4-FFF2-40B4-BE49-F238E27FC236}">
                <a16:creationId xmlns:a16="http://schemas.microsoft.com/office/drawing/2014/main" id="{AB1303BF-2A84-03BE-4073-B2CE9763C3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9613" y="1050925"/>
            <a:ext cx="4572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CEC6-9541-8F03-C402-9740583BD97D}"/>
              </a:ext>
            </a:extLst>
          </p:cNvPr>
          <p:cNvSpPr>
            <a:spLocks noGrp="1"/>
          </p:cNvSpPr>
          <p:nvPr>
            <p:ph type="title"/>
          </p:nvPr>
        </p:nvSpPr>
        <p:spPr/>
        <p:txBody>
          <a:bodyPr rtlCol="0">
            <a:normAutofit/>
          </a:bodyPr>
          <a:lstStyle/>
          <a:p>
            <a:pPr eaLnBrk="1" fontAlgn="auto" hangingPunct="1">
              <a:spcAft>
                <a:spcPts val="0"/>
              </a:spcAft>
              <a:defRPr/>
            </a:pPr>
            <a:r>
              <a:rPr lang="en-IN" b="1" dirty="0">
                <a:solidFill>
                  <a:srgbClr val="704EA6"/>
                </a:solidFill>
                <a:latin typeface="+mn-lt"/>
                <a:cs typeface="Arial" pitchFamily="34" charset="-120"/>
              </a:rPr>
              <a:t>Theme</a:t>
            </a:r>
          </a:p>
        </p:txBody>
      </p:sp>
      <p:sp>
        <p:nvSpPr>
          <p:cNvPr id="6147" name="Content Placeholder 2">
            <a:extLst>
              <a:ext uri="{FF2B5EF4-FFF2-40B4-BE49-F238E27FC236}">
                <a16:creationId xmlns:a16="http://schemas.microsoft.com/office/drawing/2014/main" id="{2311F066-C867-3503-6164-DA946FE5B69E}"/>
              </a:ext>
            </a:extLst>
          </p:cNvPr>
          <p:cNvSpPr>
            <a:spLocks noGrp="1" noChangeArrowheads="1"/>
          </p:cNvSpPr>
          <p:nvPr>
            <p:ph idx="1"/>
          </p:nvPr>
        </p:nvSpPr>
        <p:spPr/>
        <p:txBody>
          <a:bodyPr/>
          <a:lstStyle/>
          <a:p>
            <a:pPr eaLnBrk="1" hangingPunct="1"/>
            <a:r>
              <a:rPr lang="en-IN" altLang="en-US" sz="1800" b="1">
                <a:solidFill>
                  <a:srgbClr val="704EA6"/>
                </a:solidFill>
              </a:rPr>
              <a:t>Theme 02 — </a:t>
            </a:r>
            <a:r>
              <a:rPr lang="en-IN" altLang="en-US" sz="1800">
                <a:solidFill>
                  <a:srgbClr val="704EA6"/>
                </a:solidFill>
              </a:rPr>
              <a:t>Smart Guided Troubleshooting Engine</a:t>
            </a:r>
          </a:p>
          <a:p>
            <a:pPr eaLnBrk="1" hangingPunct="1"/>
            <a:endParaRPr lang="en-IN" altLang="en-US" sz="900"/>
          </a:p>
          <a:p>
            <a:pPr eaLnBrk="1" hangingPunct="1"/>
            <a:r>
              <a:rPr lang="en-IN" altLang="en-US" sz="1600"/>
              <a:t>Customers describe faults in their own words. An agent translates that into troubleshooting steps by hand — roughly 15 minutes per scenario, across millions of calls — and the customer still has to hunt through Settings.</a:t>
            </a:r>
          </a:p>
          <a:p>
            <a:pPr eaLnBrk="1" hangingPunct="1"/>
            <a:endParaRPr lang="en-IN" altLang="en-US" sz="900"/>
          </a:p>
          <a:p>
            <a:pPr eaLnBrk="1" hangingPunct="1"/>
            <a:r>
              <a:rPr lang="en-IN" altLang="en-US" sz="1600">
                <a:solidFill>
                  <a:srgbClr val="704EA6"/>
                </a:solidFill>
              </a:rPr>
              <a:t>What the specification asks for</a:t>
            </a:r>
          </a:p>
          <a:p>
            <a:pPr lvl="1" eaLnBrk="1" hangingPunct="1"/>
            <a:r>
              <a:rPr lang="en-IN" altLang="en-US" sz="1400"/>
              <a:t>Normalise a raw complaint into a technical query</a:t>
            </a:r>
          </a:p>
          <a:p>
            <a:pPr lvl="1" eaLnBrk="1" hangingPunct="1"/>
            <a:r>
              <a:rPr lang="en-IN" altLang="en-US" sz="1400"/>
              <a:t>Return clean, ordered troubleshooting steps as structured JSON</a:t>
            </a:r>
          </a:p>
          <a:p>
            <a:pPr lvl="1" eaLnBrk="1" hangingPunct="1"/>
            <a:r>
              <a:rPr lang="en-IN" altLang="en-US" sz="1400"/>
              <a:t>Map each step to the exact in-app Settings deeplink</a:t>
            </a:r>
          </a:p>
          <a:p>
            <a:pPr lvl="1" eaLnBrk="1" hangingPunct="1"/>
            <a:r>
              <a:rPr lang="en-IN" altLang="en-US" sz="1400"/>
              <a:t>Serve pre-validated answers from a fast-path cache in under 300 ms</a:t>
            </a:r>
          </a:p>
          <a:p>
            <a:pPr eaLnBrk="1" hangingPunct="1"/>
            <a:endParaRPr lang="en-IN" altLang="en-US" sz="900"/>
          </a:p>
          <a:p>
            <a:pPr eaLnBrk="1" hangingPunct="1"/>
            <a:r>
              <a:rPr lang="en-IN" altLang="en-US" sz="1400" b="1"/>
              <a:t>Constraints:  </a:t>
            </a:r>
            <a:r>
              <a:rPr lang="en-IN" altLang="en-US" sz="1400"/>
              <a:t>Deliverable is a REST API returning JSON against a fixed Pydantic schema. Mapping must stay reusable — the production target is 10k+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753F-DCE8-F75C-237E-695EFFECF77D}"/>
              </a:ext>
            </a:extLst>
          </p:cNvPr>
          <p:cNvSpPr>
            <a:spLocks noGrp="1"/>
          </p:cNvSpPr>
          <p:nvPr>
            <p:ph type="title"/>
          </p:nvPr>
        </p:nvSpPr>
        <p:spPr/>
        <p:txBody>
          <a:bodyPr rtlCol="0">
            <a:normAutofit/>
          </a:bodyPr>
          <a:lstStyle/>
          <a:p>
            <a:pPr eaLnBrk="1" fontAlgn="auto" hangingPunct="1">
              <a:spcAft>
                <a:spcPts val="0"/>
              </a:spcAft>
              <a:defRPr/>
            </a:pPr>
            <a:r>
              <a:rPr lang="en-IN" b="1" dirty="0">
                <a:solidFill>
                  <a:srgbClr val="704EA6"/>
                </a:solidFill>
                <a:latin typeface="+mn-lt"/>
                <a:cs typeface="Arial" pitchFamily="34" charset="-120"/>
              </a:rPr>
              <a:t>Existing Solutions &amp; Gaps</a:t>
            </a:r>
          </a:p>
        </p:txBody>
      </p:sp>
      <p:sp>
        <p:nvSpPr>
          <p:cNvPr id="7171" name="Content Placeholder 2">
            <a:extLst>
              <a:ext uri="{FF2B5EF4-FFF2-40B4-BE49-F238E27FC236}">
                <a16:creationId xmlns:a16="http://schemas.microsoft.com/office/drawing/2014/main" id="{B83A33DB-B2C3-6CCB-CC00-FB928BF07CFD}"/>
              </a:ext>
            </a:extLst>
          </p:cNvPr>
          <p:cNvSpPr>
            <a:spLocks noGrp="1" noChangeArrowheads="1"/>
          </p:cNvSpPr>
          <p:nvPr>
            <p:ph idx="1"/>
          </p:nvPr>
        </p:nvSpPr>
        <p:spPr/>
        <p:txBody>
          <a:bodyPr/>
          <a:lstStyle/>
          <a:p>
            <a:pPr eaLnBrk="1" hangingPunct="1"/>
            <a:r>
              <a:rPr lang="en-IN" altLang="en-US" sz="1600">
                <a:solidFill>
                  <a:srgbClr val="704EA6"/>
                </a:solidFill>
              </a:rPr>
              <a:t>Manual triage — today's process</a:t>
            </a:r>
          </a:p>
          <a:p>
            <a:pPr lvl="1" eaLnBrk="1" hangingPunct="1"/>
            <a:r>
              <a:rPr lang="en-IN" altLang="en-US" sz="1400"/>
              <a:t>An agent reads an unstructured SIIS article, selects the relevant steps and orders them by judgement. Slow, inconsistent between agents, and the output is prose.</a:t>
            </a:r>
          </a:p>
          <a:p>
            <a:pPr eaLnBrk="1" hangingPunct="1"/>
            <a:endParaRPr lang="en-IN" altLang="en-US" sz="900"/>
          </a:p>
          <a:p>
            <a:pPr eaLnBrk="1" hangingPunct="1"/>
            <a:r>
              <a:rPr lang="en-IN" altLang="en-US" sz="1600">
                <a:solidFill>
                  <a:srgbClr val="704EA6"/>
                </a:solidFill>
              </a:rPr>
              <a:t>A general-purpose chatbot</a:t>
            </a:r>
          </a:p>
          <a:p>
            <a:pPr lvl="1" eaLnBrk="1" hangingPunct="1"/>
            <a:r>
              <a:rPr lang="en-IN" altLang="en-US" sz="1400"/>
              <a:t>Fluent and ungrounded. It invents plausible steps, invents URLs, and cannot be audited against a source. Nothing verifies the advice came from Samsung's own text.</a:t>
            </a:r>
          </a:p>
          <a:p>
            <a:pPr eaLnBrk="1" hangingPunct="1"/>
            <a:endParaRPr lang="en-IN" altLang="en-US" sz="900"/>
          </a:p>
          <a:p>
            <a:pPr eaLnBrk="1" hangingPunct="1"/>
            <a:r>
              <a:rPr lang="en-IN" altLang="en-US" sz="1600">
                <a:solidFill>
                  <a:srgbClr val="704EA6"/>
                </a:solidFill>
              </a:rPr>
              <a:t>Plain RAG over the knowledge base</a:t>
            </a:r>
          </a:p>
          <a:p>
            <a:pPr lvl="1" eaLnBrk="1" hangingPunct="1"/>
            <a:r>
              <a:rPr lang="en-IN" altLang="en-US" sz="1400"/>
              <a:t>Retrieves the right article, then stops. It hands the customer a list, and has no mechanism to turn a sentence into the one correct Settings screen out of 578.</a:t>
            </a:r>
          </a:p>
          <a:p>
            <a:pPr eaLnBrk="1" hangingPunct="1"/>
            <a:endParaRPr lang="en-IN" altLang="en-US" sz="900"/>
          </a:p>
          <a:p>
            <a:pPr eaLnBrk="1" hangingPunct="1"/>
            <a:r>
              <a:rPr lang="en-IN" altLang="en-US" sz="1600" b="1">
                <a:solidFill>
                  <a:srgbClr val="C4321F"/>
                </a:solidFill>
              </a:rPr>
              <a:t>The gap —  </a:t>
            </a:r>
            <a:r>
              <a:rPr lang="en-IN" altLang="en-US" sz="1600">
                <a:solidFill>
                  <a:srgbClr val="C4321F"/>
                </a:solidFill>
              </a:rPr>
              <a:t>nobody verifies the deeplink is the RIGHT one, and nobody guides the customer through the list. We measured plain retrieval on this catalog: 31.8% of links are wrong.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3189-A5C2-6CC5-DCD0-78D3876F8642}"/>
              </a:ext>
            </a:extLst>
          </p:cNvPr>
          <p:cNvSpPr>
            <a:spLocks noGrp="1"/>
          </p:cNvSpPr>
          <p:nvPr>
            <p:ph type="title"/>
          </p:nvPr>
        </p:nvSpPr>
        <p:spPr>
          <a:xfrm>
            <a:off x="909638" y="266700"/>
            <a:ext cx="10515600" cy="1325563"/>
          </a:xfrm>
        </p:spPr>
        <p:txBody>
          <a:bodyPr rtlCol="0">
            <a:normAutofit/>
          </a:bodyPr>
          <a:lstStyle/>
          <a:p>
            <a:pPr eaLnBrk="1" fontAlgn="auto" hangingPunct="1">
              <a:spcAft>
                <a:spcPts val="0"/>
              </a:spcAft>
              <a:defRPr/>
            </a:pPr>
            <a:r>
              <a:rPr lang="en-IN" b="1" dirty="0">
                <a:solidFill>
                  <a:srgbClr val="704EA6"/>
                </a:solidFill>
                <a:latin typeface="+mn-lt"/>
              </a:rPr>
              <a:t>Our Solutions &amp; Architecture Diagram</a:t>
            </a:r>
          </a:p>
        </p:txBody>
      </p:sp>
      <p:sp>
        <p:nvSpPr>
          <p:cNvPr id="8195" name="Content Placeholder 2">
            <a:extLst>
              <a:ext uri="{FF2B5EF4-FFF2-40B4-BE49-F238E27FC236}">
                <a16:creationId xmlns:a16="http://schemas.microsoft.com/office/drawing/2014/main" id="{F9A43B4C-C27C-4F9A-2DF3-6375015F33D8}"/>
              </a:ext>
            </a:extLst>
          </p:cNvPr>
          <p:cNvSpPr>
            <a:spLocks noGrp="1" noChangeArrowheads="1"/>
          </p:cNvSpPr>
          <p:nvPr>
            <p:ph idx="1"/>
          </p:nvPr>
        </p:nvSpPr>
        <p:spPr/>
        <p:txBody>
          <a:bodyPr/>
          <a:lstStyle/>
          <a:p>
            <a:pPr eaLnBrk="1" hangingPunct="1"/>
            <a:r>
              <a:rPr lang="en-IN" altLang="en-US" sz="1600">
                <a:solidFill>
                  <a:srgbClr val="704EA6"/>
                </a:solidFill>
              </a:rPr>
              <a:t>One LLM call. Everything after it is deterministic, then guided.</a:t>
            </a:r>
          </a:p>
        </p:txBody>
      </p:sp>
      <p:pic>
        <p:nvPicPr>
          <p:cNvPr id="8196" name="Architecture">
            <a:extLst>
              <a:ext uri="{FF2B5EF4-FFF2-40B4-BE49-F238E27FC236}">
                <a16:creationId xmlns:a16="http://schemas.microsoft.com/office/drawing/2014/main" id="{096D6DC2-3629-361B-1135-8A1940ED62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38" y="2103438"/>
            <a:ext cx="10880725" cy="41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46F8A-EEB6-8C12-57AD-060570C3DE70}"/>
              </a:ext>
            </a:extLst>
          </p:cNvPr>
          <p:cNvSpPr>
            <a:spLocks noGrp="1"/>
          </p:cNvSpPr>
          <p:nvPr>
            <p:ph type="title"/>
          </p:nvPr>
        </p:nvSpPr>
        <p:spPr/>
        <p:txBody>
          <a:bodyPr rtlCol="0">
            <a:normAutofit/>
          </a:bodyPr>
          <a:lstStyle/>
          <a:p>
            <a:pPr eaLnBrk="1" fontAlgn="auto" hangingPunct="1">
              <a:spcAft>
                <a:spcPts val="0"/>
              </a:spcAft>
              <a:defRPr/>
            </a:pPr>
            <a:r>
              <a:rPr lang="en-IN" b="1" dirty="0">
                <a:solidFill>
                  <a:srgbClr val="704EA6"/>
                </a:solidFill>
                <a:latin typeface="+mn-lt"/>
              </a:rPr>
              <a:t>Demo &amp; Product Walkthrough</a:t>
            </a:r>
          </a:p>
        </p:txBody>
      </p:sp>
      <p:sp>
        <p:nvSpPr>
          <p:cNvPr id="9219" name="Content Placeholder 2">
            <a:extLst>
              <a:ext uri="{FF2B5EF4-FFF2-40B4-BE49-F238E27FC236}">
                <a16:creationId xmlns:a16="http://schemas.microsoft.com/office/drawing/2014/main" id="{E6CEBC1F-F578-506E-4419-ECD9180AEBE8}"/>
              </a:ext>
            </a:extLst>
          </p:cNvPr>
          <p:cNvSpPr>
            <a:spLocks noGrp="1" noChangeArrowheads="1"/>
          </p:cNvSpPr>
          <p:nvPr>
            <p:ph idx="1"/>
          </p:nvPr>
        </p:nvSpPr>
        <p:spPr/>
        <p:txBody>
          <a:bodyPr/>
          <a:lstStyle/>
          <a:p>
            <a:pPr eaLnBrk="1" hangingPunct="1"/>
            <a:r>
              <a:rPr lang="en-IN" altLang="en-US" sz="1600" b="1">
                <a:solidFill>
                  <a:srgbClr val="704EA6"/>
                </a:solidFill>
              </a:rPr>
              <a:t>1.  </a:t>
            </a:r>
            <a:r>
              <a:rPr lang="en-IN" altLang="en-US" sz="1600">
                <a:solidFill>
                  <a:srgbClr val="704EA6"/>
                </a:solidFill>
              </a:rPr>
              <a:t>Vague complaint in, grounded plan out</a:t>
            </a:r>
          </a:p>
          <a:p>
            <a:pPr lvl="1" eaLnBrk="1" hangingPunct="1"/>
            <a:r>
              <a:rPr lang="en-IN" altLang="en-US" sz="1400"/>
              <a:t>“My Galaxy S22 screen inputs are delayed…” Every step is highlighted in Samsung's article; a step we cannot locate gets no span and scores nothing.</a:t>
            </a:r>
          </a:p>
          <a:p>
            <a:pPr eaLnBrk="1" hangingPunct="1"/>
            <a:r>
              <a:rPr lang="en-IN" altLang="en-US" sz="1600" b="1">
                <a:solidFill>
                  <a:srgbClr val="704EA6"/>
                </a:solidFill>
              </a:rPr>
              <a:t>2.  </a:t>
            </a:r>
            <a:r>
              <a:rPr lang="en-IN" altLang="en-US" sz="1600">
                <a:solidFill>
                  <a:srgbClr val="704EA6"/>
                </a:solidFill>
              </a:rPr>
              <a:t>Told when the article does not fit the complaint</a:t>
            </a:r>
          </a:p>
          <a:p>
            <a:pPr lvl="1" eaLnBrk="1" hangingPunct="1"/>
            <a:r>
              <a:rPr lang="en-IN" altLang="en-US" sz="1400"/>
              <a:t>Each problem the customer named is marked Covered, Not covered or Unverified, backed by a whole sentence quoted from the article. The gaps go to the agent.</a:t>
            </a:r>
          </a:p>
          <a:p>
            <a:pPr eaLnBrk="1" hangingPunct="1"/>
            <a:r>
              <a:rPr lang="en-IN" altLang="en-US" sz="1600" b="1">
                <a:solidFill>
                  <a:srgbClr val="704EA6"/>
                </a:solidFill>
              </a:rPr>
              <a:t>3.  </a:t>
            </a:r>
            <a:r>
              <a:rPr lang="en-IN" altLang="en-US" sz="1600">
                <a:solidFill>
                  <a:srgbClr val="704EA6"/>
                </a:solidFill>
              </a:rPr>
              <a:t>The right Settings screen, and refusing a wrong label</a:t>
            </a:r>
          </a:p>
          <a:p>
            <a:pPr lvl="1" eaLnBrk="1" hangingPunct="1"/>
            <a:r>
              <a:rPr lang="en-IN" altLang="en-US" sz="1400"/>
              <a:t>“Turn on” and “Turn off Touch sensitivity” resolve to different entries. A catalog entry labelled Enable Grayscale is described as mono audio, so it is refused.</a:t>
            </a:r>
          </a:p>
          <a:p>
            <a:pPr eaLnBrk="1" hangingPunct="1"/>
            <a:r>
              <a:rPr lang="en-IN" altLang="en-US" sz="1600" b="1">
                <a:solidFill>
                  <a:srgbClr val="704EA6"/>
                </a:solidFill>
              </a:rPr>
              <a:t>4.  </a:t>
            </a:r>
            <a:r>
              <a:rPr lang="en-IN" altLang="en-US" sz="1600">
                <a:solidFill>
                  <a:srgbClr val="704EA6"/>
                </a:solidFill>
              </a:rPr>
              <a:t>Same issue, different words</a:t>
            </a:r>
          </a:p>
          <a:p>
            <a:pPr lvl="1" eaLnBrk="1" hangingPunct="1"/>
            <a:r>
              <a:rPr lang="en-IN" altLang="en-US" sz="1400"/>
              <a:t>A reworded complaint about the same article returns from cache with no LLM call; the grounding from the cold run comes with it.</a:t>
            </a:r>
          </a:p>
          <a:p>
            <a:pPr eaLnBrk="1" hangingPunct="1"/>
            <a:r>
              <a:rPr lang="en-IN" altLang="en-US" sz="1600" b="1">
                <a:solidFill>
                  <a:srgbClr val="704EA6"/>
                </a:solidFill>
              </a:rPr>
              <a:t>5.  </a:t>
            </a:r>
            <a:r>
              <a:rPr lang="en-IN" altLang="en-US" sz="1600">
                <a:solidFill>
                  <a:srgbClr val="704EA6"/>
                </a:solidFill>
              </a:rPr>
              <a:t>Guided, one step at a time</a:t>
            </a:r>
          </a:p>
          <a:p>
            <a:pPr lvl="1" eaLnBrk="1" hangingPunct="1"/>
            <a:r>
              <a:rPr lang="en-IN" altLang="en-US" sz="1400"/>
              <a:t>“Did this fix it?” Before a factory reset the server stops and quotes Samsung's own warning: back up your personal data first.</a:t>
            </a:r>
          </a:p>
          <a:p>
            <a:pPr eaLnBrk="1" hangingPunct="1"/>
            <a:r>
              <a:rPr lang="en-IN" altLang="en-US" sz="1600" b="1">
                <a:solidFill>
                  <a:srgbClr val="704EA6"/>
                </a:solidFill>
              </a:rPr>
              <a:t>6.  </a:t>
            </a:r>
            <a:r>
              <a:rPr lang="en-IN" altLang="en-US" sz="1600">
                <a:solidFill>
                  <a:srgbClr val="704EA6"/>
                </a:solidFill>
              </a:rPr>
              <a:t>Handed to an agent with the full record</a:t>
            </a:r>
          </a:p>
          <a:p>
            <a:pPr lvl="1" eaLnBrk="1" hangingPunct="1"/>
            <a:r>
              <a:rPr lang="en-IN" altLang="en-US" sz="1400"/>
              <a:t>What was tried, each outcome, what is left. A declined step is never reported as tried, so the customer never repeats 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634D518-1CA2-2795-A171-E8D33FE765EB}"/>
              </a:ext>
            </a:extLst>
          </p:cNvPr>
          <p:cNvSpPr>
            <a:spLocks noGrp="1" noChangeArrowheads="1"/>
          </p:cNvSpPr>
          <p:nvPr>
            <p:ph type="title"/>
          </p:nvPr>
        </p:nvSpPr>
        <p:spPr/>
        <p:txBody>
          <a:bodyPr/>
          <a:lstStyle/>
          <a:p>
            <a:pPr eaLnBrk="1" hangingPunct="1"/>
            <a:r>
              <a:rPr lang="en-US" altLang="en-US" b="1">
                <a:solidFill>
                  <a:srgbClr val="704EA6"/>
                </a:solidFill>
                <a:latin typeface="Calibri" panose="020F0502020204030204" pitchFamily="34" charset="0"/>
                <a:cs typeface="Calibri" panose="020F0502020204030204" pitchFamily="34" charset="0"/>
              </a:rPr>
              <a:t>Tools and tech stack used</a:t>
            </a:r>
            <a:endParaRPr lang="en-IN" altLang="en-US" b="1">
              <a:solidFill>
                <a:srgbClr val="704EA6"/>
              </a:solidFill>
            </a:endParaRPr>
          </a:p>
        </p:txBody>
      </p:sp>
      <p:sp>
        <p:nvSpPr>
          <p:cNvPr id="10243" name="Content Placeholder 2">
            <a:extLst>
              <a:ext uri="{FF2B5EF4-FFF2-40B4-BE49-F238E27FC236}">
                <a16:creationId xmlns:a16="http://schemas.microsoft.com/office/drawing/2014/main" id="{27920AC9-633B-AFEB-5A6F-0D3160E51194}"/>
              </a:ext>
            </a:extLst>
          </p:cNvPr>
          <p:cNvSpPr>
            <a:spLocks noGrp="1" noChangeArrowheads="1"/>
          </p:cNvSpPr>
          <p:nvPr>
            <p:ph idx="1"/>
          </p:nvPr>
        </p:nvSpPr>
        <p:spPr/>
        <p:txBody>
          <a:bodyPr/>
          <a:lstStyle/>
          <a:p>
            <a:pPr eaLnBrk="1" hangingPunct="1"/>
            <a:r>
              <a:rPr lang="en-IN" altLang="en-US" sz="1400" b="1"/>
              <a:t>Backend    </a:t>
            </a:r>
            <a:r>
              <a:rPr lang="en-IN" altLang="en-US" sz="1400"/>
              <a:t>Python 3.11+ · FastAPI · Pydantic v2 · POST /v1/troubleshoot, GET /health, non-spec /v1/guided/*</a:t>
            </a:r>
          </a:p>
          <a:p>
            <a:pPr eaLnBrk="1" hangingPunct="1"/>
            <a:r>
              <a:rPr lang="en-IN" altLang="en-US" sz="1400" b="1"/>
              <a:t>Model       </a:t>
            </a:r>
            <a:r>
              <a:rPr lang="en-IN" altLang="en-US" sz="1400"/>
              <a:t>Google Gemini 3.1 Flash-Lite · temperature 0, JSON-schema structured output · provider-agnostic interface with an offline deterministic fallback</a:t>
            </a:r>
          </a:p>
          <a:p>
            <a:pPr eaLnBrk="1" hangingPunct="1"/>
            <a:r>
              <a:rPr lang="en-IN" altLang="en-US" sz="1400" b="1"/>
              <a:t>Retrieval  </a:t>
            </a:r>
            <a:r>
              <a:rPr lang="en-IN" altLang="en-US" sz="1400"/>
              <a:t>rank-bm25 over message + description + qna_description · 578-entry catalog · exhaustive NumPy cosine, no ANN index needed at this scale</a:t>
            </a:r>
          </a:p>
          <a:p>
            <a:pPr eaLnBrk="1" hangingPunct="1"/>
            <a:r>
              <a:rPr lang="en-IN" altLang="en-US" sz="1400" b="1"/>
              <a:t>Cache       </a:t>
            </a:r>
            <a:r>
              <a:rPr lang="en-IN" altLang="en-US" sz="1400"/>
              <a:t>sentence-transformers all-MiniLM-L6-v2, TF-IDF fallback · exact + semantic tiers, partitioned by article · measured to 10,000 synthetic scenarios</a:t>
            </a:r>
          </a:p>
          <a:p>
            <a:pPr eaLnBrk="1" hangingPunct="1"/>
            <a:r>
              <a:rPr lang="en-IN" altLang="en-US" sz="1400" b="1"/>
              <a:t>Frontend  </a:t>
            </a:r>
            <a:r>
              <a:rPr lang="en-IN" altLang="en-US" sz="1400"/>
              <a:t>React + Vite, no component library · customer view, guided mode, engineer view</a:t>
            </a:r>
          </a:p>
          <a:p>
            <a:pPr eaLnBrk="1" hangingPunct="1"/>
            <a:r>
              <a:rPr lang="en-IN" altLang="en-US" sz="1400" b="1"/>
              <a:t>Quality    </a:t>
            </a:r>
            <a:r>
              <a:rPr lang="en-IN" altLang="en-US" sz="1400"/>
              <a:t>pytest — 265 tests, none needing an API key · seeded fuzz tests · guided flow walked in Chromium · independent review before submission</a:t>
            </a:r>
          </a:p>
          <a:p>
            <a:pPr eaLnBrk="1" hangingPunct="1"/>
            <a:endParaRPr lang="en-IN" altLang="en-US" sz="900"/>
          </a:p>
          <a:p>
            <a:pPr eaLnBrk="1" hangingPunct="1"/>
            <a:r>
              <a:rPr lang="en-IN" altLang="en-US" sz="1400" b="1">
                <a:solidFill>
                  <a:srgbClr val="5B6472"/>
                </a:solidFill>
              </a:rPr>
              <a:t>Deliberately not used:  </a:t>
            </a:r>
            <a:r>
              <a:rPr lang="en-IN" altLang="en-US" sz="1400">
                <a:solidFill>
                  <a:srgbClr val="5B6472"/>
                </a:solidFill>
              </a:rPr>
              <a:t>FAISS, Redis, a cross-encoder reranker, LangChain, multi-agent orchestration. Each was evaluated and rejected with a stated reason — 578 entries do not need an ANN index, and a single process does not need a network cache.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095F726-DF96-2715-4033-A427B98B6D6E}"/>
              </a:ext>
            </a:extLst>
          </p:cNvPr>
          <p:cNvSpPr>
            <a:spLocks noGrp="1" noChangeArrowheads="1"/>
          </p:cNvSpPr>
          <p:nvPr>
            <p:ph type="title"/>
          </p:nvPr>
        </p:nvSpPr>
        <p:spPr/>
        <p:txBody>
          <a:bodyPr/>
          <a:lstStyle/>
          <a:p>
            <a:pPr eaLnBrk="1" hangingPunct="1"/>
            <a:r>
              <a:rPr lang="en-US" altLang="en-US" b="1">
                <a:solidFill>
                  <a:srgbClr val="704EA6"/>
                </a:solidFill>
                <a:latin typeface="Calibri" panose="020F0502020204030204" pitchFamily="34" charset="0"/>
                <a:cs typeface="Calibri" panose="020F0502020204030204" pitchFamily="34" charset="0"/>
              </a:rPr>
              <a:t>Impact &amp; Use case</a:t>
            </a:r>
            <a:endParaRPr lang="en-IN" altLang="en-US" b="1">
              <a:solidFill>
                <a:srgbClr val="704EA6"/>
              </a:solidFill>
            </a:endParaRPr>
          </a:p>
        </p:txBody>
      </p:sp>
      <p:sp>
        <p:nvSpPr>
          <p:cNvPr id="11267" name="Content Placeholder 2">
            <a:extLst>
              <a:ext uri="{FF2B5EF4-FFF2-40B4-BE49-F238E27FC236}">
                <a16:creationId xmlns:a16="http://schemas.microsoft.com/office/drawing/2014/main" id="{4697A754-8FD3-98FC-5994-EF57ED418BFA}"/>
              </a:ext>
            </a:extLst>
          </p:cNvPr>
          <p:cNvSpPr>
            <a:spLocks noGrp="1" noChangeArrowheads="1"/>
          </p:cNvSpPr>
          <p:nvPr>
            <p:ph idx="1"/>
          </p:nvPr>
        </p:nvSpPr>
        <p:spPr/>
        <p:txBody>
          <a:bodyPr/>
          <a:lstStyle/>
          <a:p>
            <a:pPr eaLnBrk="1" hangingPunct="1"/>
            <a:r>
              <a:rPr lang="en-IN" altLang="en-US" sz="1600">
                <a:solidFill>
                  <a:srgbClr val="704EA6"/>
                </a:solidFill>
              </a:rPr>
              <a:t>15 minutes of manual triage becomes one API call, and a guided fix</a:t>
            </a:r>
          </a:p>
          <a:p>
            <a:pPr eaLnBrk="1" hangingPunct="1"/>
            <a:endParaRPr lang="en-IN" altLang="en-US" sz="900"/>
          </a:p>
          <a:p>
            <a:pPr eaLnBrk="1" hangingPunct="1"/>
            <a:r>
              <a:rPr lang="en-IN" altLang="en-US" sz="1600" b="1"/>
              <a:t>Trust   </a:t>
            </a:r>
            <a:r>
              <a:rPr lang="en-IN" altLang="en-US" sz="1600"/>
              <a:t>schema-valid, ordered by disruption, every step traced to the article it came from, and a plain warning when that article does not match the complaint.</a:t>
            </a:r>
          </a:p>
          <a:p>
            <a:pPr eaLnBrk="1" hangingPunct="1"/>
            <a:r>
              <a:rPr lang="en-IN" altLang="en-US" sz="1600" b="1"/>
              <a:t>Safety   </a:t>
            </a:r>
            <a:r>
              <a:rPr lang="en-IN" altLang="en-US" sz="1600"/>
              <a:t>last-resort steps sit behind a confirmation, and the warning shown is Samsung's own sentence, never ours.</a:t>
            </a:r>
          </a:p>
          <a:p>
            <a:pPr eaLnBrk="1" hangingPunct="1"/>
            <a:r>
              <a:rPr lang="en-IN" altLang="en-US" sz="1600" b="1"/>
              <a:t>Agent time   </a:t>
            </a:r>
            <a:r>
              <a:rPr lang="en-IN" altLang="en-US" sz="1600"/>
              <a:t>when self-service fails, the agent receives what was already tried, so the customer is not asked to repeat anything.</a:t>
            </a:r>
          </a:p>
          <a:p>
            <a:pPr eaLnBrk="1" hangingPunct="1"/>
            <a:endParaRPr lang="en-IN" altLang="en-US" sz="900"/>
          </a:p>
          <a:p>
            <a:pPr eaLnBrk="1" hangingPunct="1"/>
            <a:r>
              <a:rPr lang="en-IN" altLang="en-US" sz="1600">
                <a:solidFill>
                  <a:srgbClr val="704EA6"/>
                </a:solidFill>
              </a:rPr>
              <a:t>Where it is used</a:t>
            </a:r>
          </a:p>
          <a:p>
            <a:pPr lvl="1" eaLnBrk="1" hangingPunct="1"/>
            <a:r>
              <a:rPr lang="en-IN" altLang="en-US" sz="1400"/>
              <a:t>Support agent console — the plan is drafted before the agent finishes reading</a:t>
            </a:r>
          </a:p>
          <a:p>
            <a:pPr lvl="1" eaLnBrk="1" hangingPunct="1"/>
            <a:r>
              <a:rPr lang="en-IN" altLang="en-US" sz="1400"/>
              <a:t>Customer self-service — a help page that walks the customer through one step at a time</a:t>
            </a:r>
          </a:p>
          <a:p>
            <a:pPr lvl="1" eaLnBrk="1" hangingPunct="1"/>
            <a:r>
              <a:rPr lang="en-IN" altLang="en-US" sz="1400"/>
              <a:t>Samsung's catalog team — docs/catalog_health.md lists what no resolver can fix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A5F548A-EB2A-A508-3957-7F29B99F6EF3}"/>
              </a:ext>
            </a:extLst>
          </p:cNvPr>
          <p:cNvSpPr>
            <a:spLocks noGrp="1" noChangeArrowheads="1"/>
          </p:cNvSpPr>
          <p:nvPr>
            <p:ph type="title"/>
          </p:nvPr>
        </p:nvSpPr>
        <p:spPr/>
        <p:txBody>
          <a:bodyPr/>
          <a:lstStyle/>
          <a:p>
            <a:pPr eaLnBrk="1" hangingPunct="1">
              <a:spcAft>
                <a:spcPts val="500"/>
              </a:spcAft>
            </a:pPr>
            <a:r>
              <a:rPr lang="en-US" altLang="en-US" b="1">
                <a:solidFill>
                  <a:srgbClr val="704EA6"/>
                </a:solidFill>
                <a:latin typeface="Calibri" panose="020F0502020204030204" pitchFamily="34" charset="0"/>
                <a:cs typeface="Calibri" panose="020F0502020204030204" pitchFamily="34" charset="0"/>
              </a:rPr>
              <a:t>Innovation highlights, results and limitations</a:t>
            </a:r>
            <a:endParaRPr lang="en-US" altLang="en-US" b="1">
              <a:solidFill>
                <a:srgbClr val="704EA6"/>
              </a:solidFill>
            </a:endParaRPr>
          </a:p>
        </p:txBody>
      </p:sp>
      <p:sp>
        <p:nvSpPr>
          <p:cNvPr id="12291" name="Content Placeholder 2">
            <a:extLst>
              <a:ext uri="{FF2B5EF4-FFF2-40B4-BE49-F238E27FC236}">
                <a16:creationId xmlns:a16="http://schemas.microsoft.com/office/drawing/2014/main" id="{948D49B0-29CD-DD24-CFB9-89530BAF8E72}"/>
              </a:ext>
            </a:extLst>
          </p:cNvPr>
          <p:cNvSpPr>
            <a:spLocks noGrp="1" noChangeArrowheads="1"/>
          </p:cNvSpPr>
          <p:nvPr>
            <p:ph idx="1"/>
          </p:nvPr>
        </p:nvSpPr>
        <p:spPr/>
        <p:txBody>
          <a:bodyPr/>
          <a:lstStyle/>
          <a:p>
            <a:pPr eaLnBrk="1" hangingPunct="1"/>
            <a:r>
              <a:rPr lang="en-IN" altLang="en-US" sz="1800">
                <a:solidFill>
                  <a:srgbClr val="704EA6"/>
                </a:solidFill>
              </a:rPr>
              <a:t>Wrong deeplinks: 31.8%  →  1.2%</a:t>
            </a:r>
          </a:p>
          <a:p>
            <a:pPr eaLnBrk="1" hangingPunct="1"/>
            <a:r>
              <a:rPr lang="en-IN" altLang="en-US" sz="1400"/>
              <a:t>850 labelled cases. Plain BM25 retrieval scores 68.2% precision; the deterministic gates lift it to 98.7% at 88.1% accuracy@1, with 0 answers on a catalog entry whose own description contradicts its label (18 without that check). Generated by the harness, never typed.</a:t>
            </a:r>
          </a:p>
          <a:p>
            <a:pPr eaLnBrk="1" hangingPunct="1"/>
            <a:endParaRPr lang="en-IN" altLang="en-US" sz="900"/>
          </a:p>
          <a:p>
            <a:pPr eaLnBrk="1" hangingPunct="1"/>
            <a:r>
              <a:rPr lang="en-IN" altLang="en-US" sz="1400" b="1"/>
              <a:t>Across all 20 SIIS rows:  </a:t>
            </a:r>
            <a:r>
              <a:rPr lang="en-IN" altLang="en-US" sz="1400"/>
              <a:t>100% schema-valid · 100% rule-compliant · 0 URL leaks · 0 deeplinks outside the catalog · 20/20 rows answered</a:t>
            </a:r>
          </a:p>
          <a:p>
            <a:pPr eaLnBrk="1" hangingPunct="1"/>
            <a:r>
              <a:rPr lang="en-IN" altLang="en-US" sz="1400" b="1"/>
              <a:t>Cache:  </a:t>
            </a:r>
            <a:r>
              <a:rPr lang="en-IN" altLang="en-US" sz="1400"/>
              <a:t>cross-article hits impossible by construction · a 10,000-scenario run found three scaling bugs a 20-row test could not; all fixed and regression-tested</a:t>
            </a:r>
          </a:p>
          <a:p>
            <a:pPr eaLnBrk="1" hangingPunct="1"/>
            <a:endParaRPr lang="en-IN" altLang="en-US" sz="900"/>
          </a:p>
          <a:p>
            <a:pPr eaLnBrk="1" hangingPunct="1"/>
            <a:r>
              <a:rPr lang="en-IN" altLang="en-US" sz="1600">
                <a:solidFill>
                  <a:srgbClr val="C4321F"/>
                </a:solidFill>
              </a:rPr>
              <a:t>Limitations, stated</a:t>
            </a:r>
          </a:p>
          <a:p>
            <a:pPr lvl="1" eaLnBrk="1" hangingPunct="1"/>
            <a:r>
              <a:rPr lang="en-IN" altLang="en-US" sz="1400"/>
              <a:t>Article fit is a model judgment with a verified quote, not proof, and is measured on only 4 mismatched pairings in 20 rows; the plan is still built from the article</a:t>
            </a:r>
          </a:p>
          <a:p>
            <a:pPr lvl="1" eaLnBrk="1" hangingPunct="1"/>
            <a:r>
              <a:rPr lang="en-IN" altLang="en-US" sz="1400"/>
              <a:t>10 wrong answers remain, mostly a short catalog name matching inside a longer step</a:t>
            </a:r>
          </a:p>
          <a:p>
            <a:pPr lvl="1" eaLnBrk="1" hangingPunct="1"/>
            <a:r>
              <a:rPr lang="en-IN" altLang="en-US" sz="1400"/>
              <a:t>Guided mode has no resolution rate: that needs real customers</a:t>
            </a:r>
          </a:p>
          <a:p>
            <a:pPr lvl="1" eaLnBrk="1" hangingPunct="1"/>
            <a:r>
              <a:rPr lang="en-IN" altLang="en-US" sz="1400"/>
              <a:t>The gold set is derived from catalog labels, not human-labelled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77DF680A-BD58-DA0C-4474-5EE0D7C80EAD}"/>
              </a:ext>
            </a:extLst>
          </p:cNvPr>
          <p:cNvSpPr>
            <a:spLocks noGrp="1" noChangeArrowheads="1"/>
          </p:cNvSpPr>
          <p:nvPr>
            <p:ph type="title"/>
          </p:nvPr>
        </p:nvSpPr>
        <p:spPr/>
        <p:txBody>
          <a:bodyPr/>
          <a:lstStyle/>
          <a:p>
            <a:pPr eaLnBrk="1" hangingPunct="1">
              <a:spcAft>
                <a:spcPts val="500"/>
              </a:spcAft>
            </a:pPr>
            <a:r>
              <a:rPr lang="en-US" altLang="en-US" b="1">
                <a:solidFill>
                  <a:srgbClr val="704EA6"/>
                </a:solidFill>
                <a:latin typeface="Calibri" panose="020F0502020204030204" pitchFamily="34" charset="0"/>
                <a:cs typeface="Calibri" panose="020F0502020204030204" pitchFamily="34" charset="0"/>
              </a:rPr>
              <a:t>What’s next</a:t>
            </a:r>
            <a:endParaRPr lang="en-US" altLang="en-US" b="1">
              <a:solidFill>
                <a:srgbClr val="704EA6"/>
              </a:solidFill>
            </a:endParaRPr>
          </a:p>
        </p:txBody>
      </p:sp>
      <p:sp>
        <p:nvSpPr>
          <p:cNvPr id="13315" name="Content Placeholder 2">
            <a:extLst>
              <a:ext uri="{FF2B5EF4-FFF2-40B4-BE49-F238E27FC236}">
                <a16:creationId xmlns:a16="http://schemas.microsoft.com/office/drawing/2014/main" id="{0739BC99-1C00-2362-E532-D7DA29DD233F}"/>
              </a:ext>
            </a:extLst>
          </p:cNvPr>
          <p:cNvSpPr>
            <a:spLocks noGrp="1" noChangeArrowheads="1"/>
          </p:cNvSpPr>
          <p:nvPr>
            <p:ph idx="1"/>
          </p:nvPr>
        </p:nvSpPr>
        <p:spPr/>
        <p:txBody>
          <a:bodyPr/>
          <a:lstStyle/>
          <a:p>
            <a:pPr eaLnBrk="1" hangingPunct="1"/>
            <a:r>
              <a:rPr lang="en-IN" altLang="en-US" sz="1600">
                <a:solidFill>
                  <a:srgbClr val="704EA6"/>
                </a:solidFill>
              </a:rPr>
              <a:t>Measure resolution with real sessions</a:t>
            </a:r>
          </a:p>
          <a:p>
            <a:pPr lvl="1" eaLnBrk="1" hangingPunct="1"/>
            <a:r>
              <a:rPr lang="en-IN" altLang="en-US" sz="1400"/>
              <a:t>Guided mode already records every outcome. With real customers that becomes a resolution rate, and only then a case for reordering steps within a tier.</a:t>
            </a:r>
          </a:p>
          <a:p>
            <a:pPr eaLnBrk="1" hangingPunct="1"/>
            <a:r>
              <a:rPr lang="en-IN" altLang="en-US" sz="1600">
                <a:solidFill>
                  <a:srgbClr val="704EA6"/>
                </a:solidFill>
              </a:rPr>
              <a:t>Act on a mismatched article</a:t>
            </a:r>
          </a:p>
          <a:p>
            <a:pPr lvl="1" eaLnBrk="1" hangingPunct="1"/>
            <a:r>
              <a:rPr lang="en-IN" altLang="en-US" sz="1400"/>
              <a:t>Article fit already reports it. Withholding the plan on a "none" fit needs a labelled set of pairings to validate; 20 rows cannot.</a:t>
            </a:r>
          </a:p>
          <a:p>
            <a:pPr eaLnBrk="1" hangingPunct="1"/>
            <a:r>
              <a:rPr lang="en-IN" altLang="en-US" sz="1600">
                <a:solidFill>
                  <a:srgbClr val="704EA6"/>
                </a:solidFill>
              </a:rPr>
              <a:t>Close the subset-coverage gap</a:t>
            </a:r>
          </a:p>
          <a:p>
            <a:pPr lvl="1" eaLnBrk="1" hangingPunct="1"/>
            <a:r>
              <a:rPr lang="en-IN" altLang="en-US" sz="1400"/>
              <a:t>“Zen Mode” resolving to Screen mode. A step-side coverage term fixed 1 of the 10 remaining errors, so a stronger fix is needed.</a:t>
            </a:r>
          </a:p>
          <a:p>
            <a:pPr eaLnBrk="1" hangingPunct="1"/>
            <a:r>
              <a:rPr lang="en-IN" altLang="en-US" sz="1600">
                <a:solidFill>
                  <a:srgbClr val="704EA6"/>
                </a:solidFill>
              </a:rPr>
              <a:t>Multi-intent complaints</a:t>
            </a:r>
          </a:p>
          <a:p>
            <a:pPr lvl="1" eaLnBrk="1" hangingPunct="1"/>
            <a:r>
              <a:rPr lang="en-IN" altLang="en-US" sz="1400"/>
              <a:t>Samsung's own input set has three faults in one message. Splitting them is the next real capability.</a:t>
            </a:r>
          </a:p>
          <a:p>
            <a:pPr eaLnBrk="1" hangingPunct="1"/>
            <a:r>
              <a:rPr lang="en-IN" altLang="en-US" sz="1600">
                <a:solidFill>
                  <a:srgbClr val="704EA6"/>
                </a:solidFill>
              </a:rPr>
              <a:t>Fix the catalog with Samsung</a:t>
            </a:r>
          </a:p>
          <a:p>
            <a:pPr lvl="1" eaLnBrk="1" hangingPunct="1"/>
            <a:r>
              <a:rPr lang="en-IN" altLang="en-US" sz="1400"/>
              <a:t>50 labels that name another screen, 5 indistinguishable groups, and no entry for Factory data reset.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9C27CEE1-2EDD-60B5-F8C5-B4B4B1B5B1F2}"/>
              </a:ext>
            </a:extLst>
          </p:cNvPr>
          <p:cNvSpPr>
            <a:spLocks noGrp="1" noChangeArrowheads="1"/>
          </p:cNvSpPr>
          <p:nvPr>
            <p:ph type="title"/>
          </p:nvPr>
        </p:nvSpPr>
        <p:spPr/>
        <p:txBody>
          <a:bodyPr/>
          <a:lstStyle/>
          <a:p>
            <a:pPr eaLnBrk="1" hangingPunct="1">
              <a:spcAft>
                <a:spcPts val="500"/>
              </a:spcAft>
            </a:pPr>
            <a:r>
              <a:rPr lang="en-US" altLang="en-US" b="1">
                <a:solidFill>
                  <a:srgbClr val="704EA6"/>
                </a:solidFill>
                <a:latin typeface="Calibri" panose="020F0502020204030204" pitchFamily="34" charset="0"/>
                <a:cs typeface="Calibri" panose="020F0502020204030204" pitchFamily="34" charset="0"/>
              </a:rPr>
              <a:t>Brownie points slide( differentiation)</a:t>
            </a:r>
            <a:endParaRPr lang="en-US" altLang="en-US" b="1">
              <a:solidFill>
                <a:srgbClr val="704EA6"/>
              </a:solidFill>
            </a:endParaRPr>
          </a:p>
        </p:txBody>
      </p:sp>
      <p:sp>
        <p:nvSpPr>
          <p:cNvPr id="14339" name="Content Placeholder 2">
            <a:extLst>
              <a:ext uri="{FF2B5EF4-FFF2-40B4-BE49-F238E27FC236}">
                <a16:creationId xmlns:a16="http://schemas.microsoft.com/office/drawing/2014/main" id="{139D9AFA-7CF9-311F-8951-369CCA1FF9EE}"/>
              </a:ext>
            </a:extLst>
          </p:cNvPr>
          <p:cNvSpPr>
            <a:spLocks noGrp="1" noChangeArrowheads="1"/>
          </p:cNvSpPr>
          <p:nvPr>
            <p:ph idx="1"/>
          </p:nvPr>
        </p:nvSpPr>
        <p:spPr/>
        <p:txBody>
          <a:bodyPr/>
          <a:lstStyle/>
          <a:p>
            <a:pPr eaLnBrk="1" hangingPunct="1"/>
            <a:r>
              <a:rPr lang="en-IN" altLang="en-US" sz="1600">
                <a:solidFill>
                  <a:srgbClr val="704EA6"/>
                </a:solidFill>
              </a:rPr>
              <a:t>It says when Samsung's article does not fit</a:t>
            </a:r>
          </a:p>
          <a:p>
            <a:pPr lvl="1" eaLnBrk="1" hangingPunct="1"/>
            <a:r>
              <a:rPr lang="en-IN" altLang="en-US" sz="1400"/>
              <a:t>Everyone else trusts the supplied article. We check each problem the customer named against it, and believe "covered" only with a whole sentence quoted from it.</a:t>
            </a:r>
          </a:p>
          <a:p>
            <a:pPr eaLnBrk="1" hangingPunct="1"/>
            <a:r>
              <a:rPr lang="en-IN" altLang="en-US" sz="1600">
                <a:solidFill>
                  <a:srgbClr val="704EA6"/>
                </a:solidFill>
              </a:rPr>
              <a:t>Guided, not just listed</a:t>
            </a:r>
          </a:p>
          <a:p>
            <a:pPr lvl="1" eaLnBrk="1" hangingPunct="1"/>
            <a:r>
              <a:rPr lang="en-IN" altLang="en-US" sz="1400"/>
              <a:t>A server-enforced safety gate before every last-resort step, quoting Samsung's own warning. A restart is gated but never shown the factory-reset warning beside it.</a:t>
            </a:r>
          </a:p>
          <a:p>
            <a:pPr eaLnBrk="1" hangingPunct="1"/>
            <a:r>
              <a:rPr lang="en-IN" altLang="en-US" sz="1600">
                <a:solidFill>
                  <a:srgbClr val="704EA6"/>
                </a:solidFill>
              </a:rPr>
              <a:t>We audited Samsung's catalog</a:t>
            </a:r>
          </a:p>
          <a:p>
            <a:pPr lvl="1" eaLnBrk="1" hangingPunct="1"/>
            <a:r>
              <a:rPr lang="en-IN" altLang="en-US" sz="1400"/>
              <a:t>50 entries name a different screen from their own description. Refusing them dropped gold-set precision from 99.2% to 98.7%. We shipped the lower number.</a:t>
            </a:r>
          </a:p>
          <a:p>
            <a:pPr eaLnBrk="1" hangingPunct="1"/>
            <a:r>
              <a:rPr lang="en-IN" altLang="en-US" sz="1600">
                <a:solidFill>
                  <a:srgbClr val="704EA6"/>
                </a:solidFill>
              </a:rPr>
              <a:t>We published a number that got worse, twice</a:t>
            </a:r>
          </a:p>
          <a:p>
            <a:pPr lvl="1" eaLnBrk="1" hangingPunct="1"/>
            <a:r>
              <a:rPr lang="en-IN" altLang="en-US" sz="1400"/>
              <a:t>0 of 29 model-reported source offsets pointed at relevant text. Relocating spans by content dropped our confidence score from 0.82 to 0.76.</a:t>
            </a:r>
          </a:p>
          <a:p>
            <a:pPr eaLnBrk="1" hangingPunct="1"/>
            <a:r>
              <a:rPr lang="en-IN" altLang="en-US" sz="1600">
                <a:solidFill>
                  <a:srgbClr val="704EA6"/>
                </a:solidFill>
              </a:rPr>
              <a:t>Every claim is traceable</a:t>
            </a:r>
          </a:p>
          <a:p>
            <a:pPr lvl="1" eaLnBrk="1" hangingPunct="1"/>
            <a:r>
              <a:rPr lang="en-IN" altLang="en-US" sz="1400"/>
              <a:t>Design decisions cited to Samsung's spec (C1–C12), metrics generated not typed, an independent review before submission, and schema.py checksummed in CI.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FAF6-73CA-B3F5-9BF7-5AC4E352B67E}"/>
              </a:ext>
            </a:extLst>
          </p:cNvPr>
          <p:cNvSpPr>
            <a:spLocks noGrp="1"/>
          </p:cNvSpPr>
          <p:nvPr>
            <p:ph type="title"/>
          </p:nvPr>
        </p:nvSpPr>
        <p:spPr/>
        <p:txBody>
          <a:bodyPr rtlCol="0">
            <a:normAutofit/>
          </a:bodyPr>
          <a:lstStyle/>
          <a:p>
            <a:pPr eaLnBrk="1" fontAlgn="auto" hangingPunct="1">
              <a:spcAft>
                <a:spcPts val="0"/>
              </a:spcAft>
              <a:defRPr/>
            </a:pPr>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5846D1E6-8ECF-C5DC-FC45-DD401FB2B831}"/>
              </a:ext>
            </a:extLst>
          </p:cNvPr>
          <p:cNvSpPr>
            <a:spLocks noGrp="1"/>
          </p:cNvSpPr>
          <p:nvPr>
            <p:ph idx="1"/>
          </p:nvPr>
        </p:nvSpPr>
        <p:spPr/>
        <p:txBody>
          <a:bodyPr rtlCol="0">
            <a:normAutofit/>
          </a:bodyPr>
          <a:lstStyle/>
          <a:p>
            <a:pPr marL="177800" indent="-177800" eaLnBrk="1" fontAlgn="auto" hangingPunct="1">
              <a:spcAft>
                <a:spcPts val="500"/>
              </a:spcAft>
              <a:buSzPct val="100000"/>
              <a:defRPr/>
            </a:pPr>
            <a:r>
              <a:rPr lang="en-US" sz="1800" dirty="0">
                <a:solidFill>
                  <a:srgbClr val="63637E"/>
                </a:solidFill>
                <a:ea typeface="Calibri"/>
                <a:cs typeface="Calibri"/>
              </a:rPr>
              <a:t>Working prototype code — public GitHub repo  ·  Yes </a:t>
            </a:r>
            <a:endParaRPr lang="en-US" sz="1800" dirty="0">
              <a:ea typeface="Calibri"/>
              <a:cs typeface="Calibri"/>
            </a:endParaRPr>
          </a:p>
          <a:p>
            <a:pPr marL="177800" indent="-177800" eaLnBrk="1" fontAlgn="auto" hangingPunct="1">
              <a:spcAft>
                <a:spcPts val="500"/>
              </a:spcAft>
              <a:buSzPct val="100000"/>
              <a:defRPr/>
            </a:pPr>
            <a:r>
              <a:rPr lang="en-US" sz="1800" dirty="0">
                <a:solidFill>
                  <a:srgbClr val="63637E"/>
                </a:solidFill>
                <a:ea typeface="Calibri" pitchFamily="34" charset="-122"/>
                <a:cs typeface="Calibri" pitchFamily="34" charset="-120"/>
              </a:rPr>
              <a:t>README with reproducible setup instructions  ·  Yes, verified on a fresh clone</a:t>
            </a:r>
            <a:endParaRPr lang="en-US" sz="1800" dirty="0"/>
          </a:p>
          <a:p>
            <a:pPr marL="177800" indent="-177800" eaLnBrk="1" fontAlgn="auto" hangingPunct="1">
              <a:spcAft>
                <a:spcPts val="500"/>
              </a:spcAft>
              <a:buSzPct val="100000"/>
              <a:defRPr/>
            </a:pPr>
            <a:r>
              <a:rPr lang="en-US" sz="1800" dirty="0">
                <a:solidFill>
                  <a:srgbClr val="63637E"/>
                </a:solidFill>
                <a:ea typeface="Calibri"/>
                <a:cs typeface="Calibri"/>
              </a:rPr>
              <a:t>Demo video, max 5 minutes  ·  </a:t>
            </a:r>
            <a:r>
              <a:rPr lang="en-US" sz="1800" dirty="0">
                <a:solidFill>
                  <a:srgbClr val="63637E"/>
                </a:solidFill>
                <a:ea typeface="Calibri"/>
                <a:cs typeface="Calibri"/>
                <a:hlinkClick r:id="rId2"/>
              </a:rPr>
              <a:t>Demo video Link</a:t>
            </a:r>
            <a:endParaRPr lang="en-US" sz="1800" dirty="0">
              <a:hlinkClick r:id="rId2"/>
            </a:endParaRPr>
          </a:p>
          <a:p>
            <a:pPr marL="177800" indent="-177800" eaLnBrk="1" fontAlgn="auto" hangingPunct="1">
              <a:spcAft>
                <a:spcPts val="500"/>
              </a:spcAft>
              <a:buSzPct val="100000"/>
              <a:defRPr/>
            </a:pPr>
            <a:r>
              <a:rPr lang="en-US" sz="1800" dirty="0">
                <a:solidFill>
                  <a:srgbClr val="63637E"/>
                </a:solidFill>
                <a:ea typeface="Calibri" pitchFamily="34" charset="-122"/>
                <a:cs typeface="Calibri" pitchFamily="34" charset="-120"/>
              </a:rPr>
              <a:t>Presentation file (PPT)  ·  this file</a:t>
            </a:r>
            <a:endParaRPr lang="en-US" sz="1800" dirty="0"/>
          </a:p>
          <a:p>
            <a:pPr marL="0" indent="0" eaLnBrk="1" fontAlgn="auto" hangingPunct="1">
              <a:spcAft>
                <a:spcPts val="0"/>
              </a:spcAft>
              <a:buFont typeface="Arial" panose="020B0604020202020204" pitchFamily="34" charset="0"/>
              <a:buNone/>
              <a:defRPr/>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0">
            <a:extLst>
              <a:ext uri="{FF2B5EF4-FFF2-40B4-BE49-F238E27FC236}">
                <a16:creationId xmlns:a16="http://schemas.microsoft.com/office/drawing/2014/main" id="{3A4E0EC6-A986-CA31-1912-4AD7109BCEC7}"/>
              </a:ext>
            </a:extLst>
          </p:cNvPr>
          <p:cNvSpPr txBox="1">
            <a:spLocks noChangeArrowheads="1"/>
          </p:cNvSpPr>
          <p:nvPr/>
        </p:nvSpPr>
        <p:spPr bwMode="auto">
          <a:xfrm>
            <a:off x="1046163" y="3730625"/>
            <a:ext cx="67659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600" b="1">
                <a:solidFill>
                  <a:srgbClr val="14142B"/>
                </a:solidFill>
                <a:latin typeface="Arial" panose="020B0604020202020204" pitchFamily="34" charset="0"/>
                <a:cs typeface="Arial" panose="020B0604020202020204" pitchFamily="34" charset="0"/>
              </a:rPr>
              <a:t>Thank you</a:t>
            </a:r>
            <a:endParaRPr lang="en-US" altLang="en-US" sz="4600"/>
          </a:p>
        </p:txBody>
      </p:sp>
      <p:sp>
        <p:nvSpPr>
          <p:cNvPr id="16387" name="Text 25">
            <a:extLst>
              <a:ext uri="{FF2B5EF4-FFF2-40B4-BE49-F238E27FC236}">
                <a16:creationId xmlns:a16="http://schemas.microsoft.com/office/drawing/2014/main" id="{982A5A1C-A148-39CD-E05D-64603BD15DF4}"/>
              </a:ext>
            </a:extLst>
          </p:cNvPr>
          <p:cNvSpPr txBox="1">
            <a:spLocks noChangeArrowheads="1"/>
          </p:cNvSpPr>
          <p:nvPr/>
        </p:nvSpPr>
        <p:spPr bwMode="auto">
          <a:xfrm>
            <a:off x="777875" y="5897563"/>
            <a:ext cx="10606088"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100">
                <a:solidFill>
                  <a:srgbClr val="63637E"/>
                </a:solidFill>
                <a:cs typeface="Calibri" panose="020F0502020204030204" pitchFamily="34" charset="0"/>
              </a:rPr>
              <a:t>Organised by the Language AI Team and the PRISM Team, Samsung R&amp;D Institute India</a:t>
            </a:r>
            <a:endParaRPr lang="en-US" alt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1638</Words>
  <Application>Microsoft Office PowerPoint</Application>
  <PresentationFormat>Widescreen</PresentationFormat>
  <Paragraphs>115</Paragraphs>
  <Slides>12</Slides>
  <Notes>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cloudconvert_10</cp:lastModifiedBy>
  <cp:revision>38</cp:revision>
  <dcterms:created xsi:type="dcterms:W3CDTF">2026-09-07T12:01:01Z</dcterms:created>
  <dcterms:modified xsi:type="dcterms:W3CDTF">2026-09-30T15:32:49Z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